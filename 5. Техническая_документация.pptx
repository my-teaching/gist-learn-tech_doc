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6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1999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9163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341311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142154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71137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24093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46197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420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696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24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D04138-59B8-7C9A-D3DD-1C1F7235AB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84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134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288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6B1CD3-FF71-73E2-33FA-81396C9489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77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4191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47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8B3858-4DD2-BBC9-B5AE-0624EA583C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221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5803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531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D118A9-0ABA-1640-1927-E5BDEF8B3C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588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424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57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FA974F-E209-D323-9424-C7D6A74B24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6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442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662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F9ED76-C49F-610A-D3D8-948ADD1407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497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96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2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7C0930-FB1F-6EA8-6C7E-4A03E44483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486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903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23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FACF82-DEE7-30D4-8BCF-120DA1E02C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953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000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9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BA84AE-EFDE-B305-F446-8DA3187F1E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387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78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292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0B8C0F-2D72-AFAB-DA7A-56E36DC739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936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460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43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F1C646-E47E-AAB9-4BC5-9A36DE23E9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864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99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69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727E2-38D3-0EB9-293A-2369950A7A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288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5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930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EED316-DC49-5C62-74E8-0B15215164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227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71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852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5D9E4F-7C80-B921-51C2-4CC5B5F795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940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426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820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04316E-9A85-3D81-AA17-634679856F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329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9837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738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02B6F5-9CC2-E235-9450-71724C3EA3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503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787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418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145D17-2CF6-7BAC-7FA2-D9FD89B51C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511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865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7542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520142-AFC4-75AA-E44C-A1A3673391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16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796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58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2DC879-5FAA-2744-F6CE-E8D9A645F7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284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800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45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1C36A-9331-DE2F-2990-EE3B5D86B0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806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8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232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97CB9F-F02C-9A34-94CC-A5E06D58CD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711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185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6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6B556A-3656-E4FD-EA02-0A8F9A4ED3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876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571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05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4E6D0A-F36E-0928-154D-3C9B395B81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532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613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14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F87E3-2CE7-31FB-63B7-CB893919B6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192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941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3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F5EEAA-801D-DA96-950D-3EC9297C9D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495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89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712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9636E8-BC82-61B7-0F62-A15983826D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904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670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941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1CD40-EF15-027E-C4EC-954FF68067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590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6376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9B666-60AB-B50E-89C3-E7AF081CB3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142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1834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58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A4B0B8-C492-FA7F-9EBF-06C1726134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07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216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4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573DCA-0904-8257-B243-8C7BC1F038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08146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71975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89014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83383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72415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2567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26665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9633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59778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7637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56581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80939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50680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9707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330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288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4953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7905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4850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65775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44487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1609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23403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6082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4487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514065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93116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5631485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33854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135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77026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387300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349928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23664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58063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781671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6025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87893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715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14528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31768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06014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00891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226118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964087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5821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853819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21297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3249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41945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89943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6932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54847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2191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84530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10009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51379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9464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6141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0141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49606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730939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84808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20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755848" name="Rounded Rectangle 3"/>
          <p:cNvSpPr/>
          <p:nvPr/>
        </p:nvSpPr>
        <p:spPr bwMode="auto">
          <a:xfrm>
            <a:off x="10241280" y="420624"/>
            <a:ext cx="1417320" cy="338328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8206084" name="TextBox 4"/>
          <p:cNvSpPr txBox="1"/>
          <p:nvPr/>
        </p:nvSpPr>
        <p:spPr bwMode="auto">
          <a:xfrm>
            <a:off x="10323576" y="507492"/>
            <a:ext cx="1252728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06433059" name="TextBox 5"/>
          <p:cNvSpPr txBox="1"/>
          <p:nvPr/>
        </p:nvSpPr>
        <p:spPr bwMode="auto">
          <a:xfrm>
            <a:off x="731520" y="1234440"/>
            <a:ext cx="69951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3100" b="1">
                <a:solidFill>
                  <a:srgbClr val="FFFFFF"/>
                </a:solidFill>
                <a:latin typeface="Calibri"/>
              </a:rPr>
              <a:t>Техническая документация</a:t>
            </a:r>
            <a:br>
              <a:rPr sz="3100" b="1">
                <a:solidFill>
                  <a:srgbClr val="FFFFFF"/>
                </a:solidFill>
                <a:latin typeface="Calibri"/>
              </a:rPr>
            </a:br>
            <a:r>
              <a:rPr sz="3100" b="1">
                <a:solidFill>
                  <a:srgbClr val="FFFFFF"/>
                </a:solidFill>
                <a:latin typeface="Calibri"/>
              </a:rPr>
              <a:t>программ и автоматизированных систем</a:t>
            </a:r>
            <a:endParaRPr/>
          </a:p>
        </p:txBody>
      </p:sp>
      <p:sp>
        <p:nvSpPr>
          <p:cNvPr id="613897360" name="TextBox 6"/>
          <p:cNvSpPr txBox="1"/>
          <p:nvPr/>
        </p:nvSpPr>
        <p:spPr bwMode="auto">
          <a:xfrm>
            <a:off x="758952" y="2971800"/>
            <a:ext cx="67665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C9D2E3"/>
                </a:solidFill>
                <a:latin typeface="Calibri"/>
              </a:rPr>
              <a:t>От требований и ТЗ — к испытаниям, эксплуатации и современной docs-as-code практике</a:t>
            </a:r>
            <a:endParaRPr/>
          </a:p>
        </p:txBody>
      </p:sp>
      <p:sp>
        <p:nvSpPr>
          <p:cNvPr id="1160510647" name="Rounded Rectangle 7"/>
          <p:cNvSpPr/>
          <p:nvPr/>
        </p:nvSpPr>
        <p:spPr bwMode="auto">
          <a:xfrm>
            <a:off x="8321039" y="132588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214001" name="TextBox 8"/>
          <p:cNvSpPr txBox="1"/>
          <p:nvPr/>
        </p:nvSpPr>
        <p:spPr bwMode="auto">
          <a:xfrm>
            <a:off x="8458200" y="146303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ЕСПД / ГОСТ 19</a:t>
            </a:r>
            <a:endParaRPr/>
          </a:p>
        </p:txBody>
      </p:sp>
      <p:sp>
        <p:nvSpPr>
          <p:cNvPr id="728631800" name="Rounded Rectangle 9"/>
          <p:cNvSpPr/>
          <p:nvPr/>
        </p:nvSpPr>
        <p:spPr bwMode="auto">
          <a:xfrm>
            <a:off x="8321039" y="196596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8635916" name="TextBox 10"/>
          <p:cNvSpPr txBox="1"/>
          <p:nvPr/>
        </p:nvSpPr>
        <p:spPr bwMode="auto">
          <a:xfrm>
            <a:off x="8458200" y="2103120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АС / ГОСТ 34</a:t>
            </a:r>
            <a:endParaRPr/>
          </a:p>
        </p:txBody>
      </p:sp>
      <p:sp>
        <p:nvSpPr>
          <p:cNvPr id="521990038" name="Rounded Rectangle 11"/>
          <p:cNvSpPr/>
          <p:nvPr/>
        </p:nvSpPr>
        <p:spPr bwMode="auto">
          <a:xfrm>
            <a:off x="8321039" y="2606039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3588019" name="TextBox 12"/>
          <p:cNvSpPr txBox="1"/>
          <p:nvPr/>
        </p:nvSpPr>
        <p:spPr bwMode="auto">
          <a:xfrm>
            <a:off x="8458200" y="274319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ТЗ • ПМИ</a:t>
            </a:r>
            <a:endParaRPr/>
          </a:p>
        </p:txBody>
      </p:sp>
      <p:sp>
        <p:nvSpPr>
          <p:cNvPr id="1288463784" name="Rounded Rectangle 13"/>
          <p:cNvSpPr/>
          <p:nvPr/>
        </p:nvSpPr>
        <p:spPr bwMode="auto">
          <a:xfrm>
            <a:off x="8321039" y="324612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354185" name="TextBox 14"/>
          <p:cNvSpPr txBox="1"/>
          <p:nvPr/>
        </p:nvSpPr>
        <p:spPr bwMode="auto">
          <a:xfrm>
            <a:off x="8458200" y="338327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OpenAPI • ADR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025161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1907412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7803468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56915680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Если есть весь код — есть ли всё знание о продукте?</a:t>
            </a:r>
            <a:endParaRPr/>
          </a:p>
        </p:txBody>
      </p:sp>
      <p:sp>
        <p:nvSpPr>
          <p:cNvPr id="854288090" name="Rounded Rectangle 5"/>
          <p:cNvSpPr/>
          <p:nvPr/>
        </p:nvSpPr>
        <p:spPr bwMode="auto">
          <a:xfrm>
            <a:off x="640080" y="1234440"/>
            <a:ext cx="3474720" cy="3200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406382" name="TextBox 6"/>
          <p:cNvSpPr txBox="1"/>
          <p:nvPr/>
        </p:nvSpPr>
        <p:spPr bwMode="auto">
          <a:xfrm>
            <a:off x="804671" y="138988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Код отвечает</a:t>
            </a:r>
            <a:endParaRPr/>
          </a:p>
        </p:txBody>
      </p:sp>
      <p:sp>
        <p:nvSpPr>
          <p:cNvPr id="841099610" name="TextBox 7"/>
          <p:cNvSpPr txBox="1"/>
          <p:nvPr/>
        </p:nvSpPr>
        <p:spPr bwMode="auto">
          <a:xfrm>
            <a:off x="804671" y="1783080"/>
            <a:ext cx="314553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«Как текущая версия реализована?»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Алгоритмы • структуры данных • конкретное поведение</a:t>
            </a:r>
            <a:endParaRPr/>
          </a:p>
        </p:txBody>
      </p:sp>
      <p:sp>
        <p:nvSpPr>
          <p:cNvPr id="876260803" name="Rounded Rectangle 8"/>
          <p:cNvSpPr/>
          <p:nvPr/>
        </p:nvSpPr>
        <p:spPr bwMode="auto">
          <a:xfrm>
            <a:off x="4370832" y="1234440"/>
            <a:ext cx="3474720" cy="320040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5905402" name="TextBox 9"/>
          <p:cNvSpPr txBox="1"/>
          <p:nvPr/>
        </p:nvSpPr>
        <p:spPr bwMode="auto">
          <a:xfrm>
            <a:off x="4535424" y="138988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Код не объясняет</a:t>
            </a:r>
            <a:endParaRPr/>
          </a:p>
        </p:txBody>
      </p:sp>
      <p:sp>
        <p:nvSpPr>
          <p:cNvPr id="1547173166" name="TextBox 10"/>
          <p:cNvSpPr txBox="1"/>
          <p:nvPr/>
        </p:nvSpPr>
        <p:spPr bwMode="auto">
          <a:xfrm>
            <a:off x="4535424" y="1783080"/>
            <a:ext cx="314553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Почему требование возникло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Что обещано заказчику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Что считается приёмкой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Почему выбрана архитектура</a:t>
            </a:r>
            <a:endParaRPr/>
          </a:p>
        </p:txBody>
      </p:sp>
      <p:sp>
        <p:nvSpPr>
          <p:cNvPr id="1170051256" name="Rounded Rectangle 11"/>
          <p:cNvSpPr/>
          <p:nvPr/>
        </p:nvSpPr>
        <p:spPr bwMode="auto">
          <a:xfrm>
            <a:off x="8092440" y="1234440"/>
            <a:ext cx="3474720" cy="3200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166528" name="TextBox 12"/>
          <p:cNvSpPr txBox="1"/>
          <p:nvPr/>
        </p:nvSpPr>
        <p:spPr bwMode="auto">
          <a:xfrm>
            <a:off x="8257031" y="138988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Документация связывает</a:t>
            </a:r>
            <a:endParaRPr/>
          </a:p>
        </p:txBody>
      </p:sp>
      <p:sp>
        <p:nvSpPr>
          <p:cNvPr id="1078242979" name="TextBox 13"/>
          <p:cNvSpPr txBox="1"/>
          <p:nvPr/>
        </p:nvSpPr>
        <p:spPr bwMode="auto">
          <a:xfrm>
            <a:off x="8257031" y="1783080"/>
            <a:ext cx="314553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Замысел → требования → реализацию → проверку → эксплуатацию → изменения</a:t>
            </a:r>
            <a:endParaRPr/>
          </a:p>
        </p:txBody>
      </p:sp>
      <p:sp>
        <p:nvSpPr>
          <p:cNvPr id="792565949" name="TextBox 14"/>
          <p:cNvSpPr txBox="1"/>
          <p:nvPr/>
        </p:nvSpPr>
        <p:spPr bwMode="auto">
          <a:xfrm>
            <a:off x="1051560" y="4983480"/>
            <a:ext cx="100584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12203A"/>
                </a:solidFill>
                <a:latin typeface="Calibri"/>
              </a:rPr>
              <a:t>Документация — не «бумага после программирования», а управляемое знание о системе.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456783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250835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3847934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98093378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Жизненный цикл знания о системе</a:t>
            </a:r>
            <a:endParaRPr/>
          </a:p>
        </p:txBody>
      </p:sp>
      <p:sp>
        <p:nvSpPr>
          <p:cNvPr id="1762761192" name="Rounded Rectangle 5"/>
          <p:cNvSpPr/>
          <p:nvPr/>
        </p:nvSpPr>
        <p:spPr bwMode="auto">
          <a:xfrm>
            <a:off x="502920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178440" name="TextBox 6"/>
          <p:cNvSpPr txBox="1"/>
          <p:nvPr/>
        </p:nvSpPr>
        <p:spPr bwMode="auto">
          <a:xfrm>
            <a:off x="667512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662340741" name="TextBox 7"/>
          <p:cNvSpPr txBox="1"/>
          <p:nvPr/>
        </p:nvSpPr>
        <p:spPr bwMode="auto">
          <a:xfrm>
            <a:off x="667512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Потребность</a:t>
            </a:r>
            <a:endParaRPr/>
          </a:p>
        </p:txBody>
      </p:sp>
      <p:cxnSp>
        <p:nvCxnSpPr>
          <p:cNvPr id="115728865" name="Connector 8"/>
          <p:cNvCxnSpPr/>
          <p:nvPr/>
        </p:nvCxnSpPr>
        <p:spPr bwMode="auto">
          <a:xfrm>
            <a:off x="2185416" y="2103120"/>
            <a:ext cx="192023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824666" name="Rounded Rectangle 9"/>
          <p:cNvSpPr/>
          <p:nvPr/>
        </p:nvSpPr>
        <p:spPr bwMode="auto">
          <a:xfrm>
            <a:off x="2423160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085072" name="TextBox 10"/>
          <p:cNvSpPr txBox="1"/>
          <p:nvPr/>
        </p:nvSpPr>
        <p:spPr bwMode="auto">
          <a:xfrm>
            <a:off x="2587752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191841024" name="TextBox 11"/>
          <p:cNvSpPr txBox="1"/>
          <p:nvPr/>
        </p:nvSpPr>
        <p:spPr bwMode="auto">
          <a:xfrm>
            <a:off x="2587752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Требования</a:t>
            </a:r>
            <a:endParaRPr/>
          </a:p>
        </p:txBody>
      </p:sp>
      <p:cxnSp>
        <p:nvCxnSpPr>
          <p:cNvPr id="1701070988" name="Connector 12"/>
          <p:cNvCxnSpPr/>
          <p:nvPr/>
        </p:nvCxnSpPr>
        <p:spPr bwMode="auto">
          <a:xfrm>
            <a:off x="4105656" y="2103120"/>
            <a:ext cx="192024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8813729" name="Rounded Rectangle 13"/>
          <p:cNvSpPr/>
          <p:nvPr/>
        </p:nvSpPr>
        <p:spPr bwMode="auto">
          <a:xfrm>
            <a:off x="4343400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2575364" name="TextBox 14"/>
          <p:cNvSpPr txBox="1"/>
          <p:nvPr/>
        </p:nvSpPr>
        <p:spPr bwMode="auto">
          <a:xfrm>
            <a:off x="4507992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33107149" name="TextBox 15"/>
          <p:cNvSpPr txBox="1"/>
          <p:nvPr/>
        </p:nvSpPr>
        <p:spPr bwMode="auto">
          <a:xfrm>
            <a:off x="4507992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Решение</a:t>
            </a:r>
            <a:endParaRPr/>
          </a:p>
        </p:txBody>
      </p:sp>
      <p:cxnSp>
        <p:nvCxnSpPr>
          <p:cNvPr id="752173040" name="Connector 16"/>
          <p:cNvCxnSpPr/>
          <p:nvPr/>
        </p:nvCxnSpPr>
        <p:spPr bwMode="auto">
          <a:xfrm>
            <a:off x="6025896" y="2103120"/>
            <a:ext cx="192024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307296" name="Rounded Rectangle 17"/>
          <p:cNvSpPr/>
          <p:nvPr/>
        </p:nvSpPr>
        <p:spPr bwMode="auto">
          <a:xfrm>
            <a:off x="6263640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9261487" name="TextBox 18"/>
          <p:cNvSpPr txBox="1"/>
          <p:nvPr/>
        </p:nvSpPr>
        <p:spPr bwMode="auto">
          <a:xfrm>
            <a:off x="6428231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333348070" name="TextBox 19"/>
          <p:cNvSpPr txBox="1"/>
          <p:nvPr/>
        </p:nvSpPr>
        <p:spPr bwMode="auto">
          <a:xfrm>
            <a:off x="6428231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Код</a:t>
            </a:r>
            <a:endParaRPr/>
          </a:p>
        </p:txBody>
      </p:sp>
      <p:cxnSp>
        <p:nvCxnSpPr>
          <p:cNvPr id="63921180" name="Connector 20"/>
          <p:cNvCxnSpPr/>
          <p:nvPr/>
        </p:nvCxnSpPr>
        <p:spPr bwMode="auto">
          <a:xfrm>
            <a:off x="7946136" y="2103120"/>
            <a:ext cx="192023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5964134" name="Rounded Rectangle 21"/>
          <p:cNvSpPr/>
          <p:nvPr/>
        </p:nvSpPr>
        <p:spPr bwMode="auto">
          <a:xfrm>
            <a:off x="8183879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737944" name="TextBox 22"/>
          <p:cNvSpPr txBox="1"/>
          <p:nvPr/>
        </p:nvSpPr>
        <p:spPr bwMode="auto">
          <a:xfrm>
            <a:off x="8348471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62249299" name="TextBox 23"/>
          <p:cNvSpPr txBox="1"/>
          <p:nvPr/>
        </p:nvSpPr>
        <p:spPr bwMode="auto">
          <a:xfrm>
            <a:off x="8348471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Проверка</a:t>
            </a:r>
            <a:endParaRPr/>
          </a:p>
        </p:txBody>
      </p:sp>
      <p:cxnSp>
        <p:nvCxnSpPr>
          <p:cNvPr id="1567897051" name="Connector 24"/>
          <p:cNvCxnSpPr/>
          <p:nvPr/>
        </p:nvCxnSpPr>
        <p:spPr bwMode="auto">
          <a:xfrm>
            <a:off x="9866375" y="2103120"/>
            <a:ext cx="192024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2162487" name="Rounded Rectangle 25"/>
          <p:cNvSpPr/>
          <p:nvPr/>
        </p:nvSpPr>
        <p:spPr bwMode="auto">
          <a:xfrm>
            <a:off x="10104119" y="1508759"/>
            <a:ext cx="1664208" cy="123444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094451" name="TextBox 26"/>
          <p:cNvSpPr txBox="1"/>
          <p:nvPr/>
        </p:nvSpPr>
        <p:spPr bwMode="auto">
          <a:xfrm>
            <a:off x="10268711" y="1664207"/>
            <a:ext cx="1335024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12203A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935288039" name="TextBox 27"/>
          <p:cNvSpPr txBox="1"/>
          <p:nvPr/>
        </p:nvSpPr>
        <p:spPr bwMode="auto">
          <a:xfrm>
            <a:off x="10268711" y="2057400"/>
            <a:ext cx="13350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263241"/>
                </a:solidFill>
                <a:latin typeface="Calibri"/>
              </a:rPr>
              <a:t>Эксплуатация</a:t>
            </a:r>
            <a:endParaRPr/>
          </a:p>
        </p:txBody>
      </p:sp>
      <p:sp>
        <p:nvSpPr>
          <p:cNvPr id="375502480" name="Rounded Rectangle 28"/>
          <p:cNvSpPr/>
          <p:nvPr/>
        </p:nvSpPr>
        <p:spPr bwMode="auto">
          <a:xfrm>
            <a:off x="1280160" y="3474720"/>
            <a:ext cx="9555480" cy="123444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813986" name="TextBox 29"/>
          <p:cNvSpPr txBox="1"/>
          <p:nvPr/>
        </p:nvSpPr>
        <p:spPr bwMode="auto">
          <a:xfrm>
            <a:off x="1600200" y="3822191"/>
            <a:ext cx="8915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12203A"/>
                </a:solidFill>
                <a:latin typeface="Calibri"/>
              </a:rPr>
              <a:t>Документы меняются вместе с продуктом: требование → тест → руководство → новая версия.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099432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4096970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953229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066628774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У каждого документа есть адресат</a:t>
            </a:r>
            <a:endParaRPr/>
          </a:p>
        </p:txBody>
      </p:sp>
      <p:sp>
        <p:nvSpPr>
          <p:cNvPr id="1363838332" name="Rounded Rectangle 5"/>
          <p:cNvSpPr/>
          <p:nvPr/>
        </p:nvSpPr>
        <p:spPr bwMode="auto">
          <a:xfrm>
            <a:off x="502920" y="1280160"/>
            <a:ext cx="2697480" cy="2057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1212658" name="TextBox 6"/>
          <p:cNvSpPr txBox="1"/>
          <p:nvPr/>
        </p:nvSpPr>
        <p:spPr bwMode="auto">
          <a:xfrm>
            <a:off x="667512" y="1435607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Заказчик</a:t>
            </a:r>
            <a:endParaRPr/>
          </a:p>
        </p:txBody>
      </p:sp>
      <p:sp>
        <p:nvSpPr>
          <p:cNvPr id="1861222977" name="TextBox 7"/>
          <p:cNvSpPr txBox="1"/>
          <p:nvPr/>
        </p:nvSpPr>
        <p:spPr bwMode="auto">
          <a:xfrm>
            <a:off x="667512" y="1828800"/>
            <a:ext cx="2368296" cy="1389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что получит и как примет</a:t>
            </a:r>
            <a:endParaRPr/>
          </a:p>
        </p:txBody>
      </p:sp>
      <p:sp>
        <p:nvSpPr>
          <p:cNvPr id="1813489862" name="Rounded Rectangle 8"/>
          <p:cNvSpPr/>
          <p:nvPr/>
        </p:nvSpPr>
        <p:spPr bwMode="auto">
          <a:xfrm>
            <a:off x="3337560" y="1280160"/>
            <a:ext cx="2697480" cy="2057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823170" name="TextBox 9"/>
          <p:cNvSpPr txBox="1"/>
          <p:nvPr/>
        </p:nvSpPr>
        <p:spPr bwMode="auto">
          <a:xfrm>
            <a:off x="3502152" y="1435607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Разработчик</a:t>
            </a:r>
            <a:endParaRPr/>
          </a:p>
        </p:txBody>
      </p:sp>
      <p:sp>
        <p:nvSpPr>
          <p:cNvPr id="87719374" name="TextBox 10"/>
          <p:cNvSpPr txBox="1"/>
          <p:nvPr/>
        </p:nvSpPr>
        <p:spPr bwMode="auto">
          <a:xfrm>
            <a:off x="3502152" y="1828800"/>
            <a:ext cx="2368296" cy="1389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что реализовать и как интегрировать</a:t>
            </a:r>
            <a:endParaRPr/>
          </a:p>
        </p:txBody>
      </p:sp>
      <p:sp>
        <p:nvSpPr>
          <p:cNvPr id="170595603" name="Rounded Rectangle 11"/>
          <p:cNvSpPr/>
          <p:nvPr/>
        </p:nvSpPr>
        <p:spPr bwMode="auto">
          <a:xfrm>
            <a:off x="6172200" y="1280160"/>
            <a:ext cx="2697480" cy="205740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6958955" name="TextBox 12"/>
          <p:cNvSpPr txBox="1"/>
          <p:nvPr/>
        </p:nvSpPr>
        <p:spPr bwMode="auto">
          <a:xfrm>
            <a:off x="6336792" y="1435607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Тестировщик</a:t>
            </a:r>
            <a:endParaRPr/>
          </a:p>
        </p:txBody>
      </p:sp>
      <p:sp>
        <p:nvSpPr>
          <p:cNvPr id="199788164" name="TextBox 13"/>
          <p:cNvSpPr txBox="1"/>
          <p:nvPr/>
        </p:nvSpPr>
        <p:spPr bwMode="auto">
          <a:xfrm>
            <a:off x="6336792" y="1828800"/>
            <a:ext cx="2368296" cy="1389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что и по какому критерию проверять</a:t>
            </a:r>
            <a:endParaRPr/>
          </a:p>
        </p:txBody>
      </p:sp>
      <p:sp>
        <p:nvSpPr>
          <p:cNvPr id="1729894721" name="Rounded Rectangle 14"/>
          <p:cNvSpPr/>
          <p:nvPr/>
        </p:nvSpPr>
        <p:spPr bwMode="auto">
          <a:xfrm>
            <a:off x="9006840" y="1280160"/>
            <a:ext cx="2697480" cy="205740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059776" name="TextBox 15"/>
          <p:cNvSpPr txBox="1"/>
          <p:nvPr/>
        </p:nvSpPr>
        <p:spPr bwMode="auto">
          <a:xfrm>
            <a:off x="9171432" y="1435607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Оператор</a:t>
            </a:r>
            <a:endParaRPr/>
          </a:p>
        </p:txBody>
      </p:sp>
      <p:sp>
        <p:nvSpPr>
          <p:cNvPr id="1047416629" name="TextBox 16"/>
          <p:cNvSpPr txBox="1"/>
          <p:nvPr/>
        </p:nvSpPr>
        <p:spPr bwMode="auto">
          <a:xfrm>
            <a:off x="9171432" y="1828800"/>
            <a:ext cx="2368296" cy="1389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как выполнить рабочую операцию</a:t>
            </a:r>
            <a:endParaRPr/>
          </a:p>
        </p:txBody>
      </p:sp>
      <p:sp>
        <p:nvSpPr>
          <p:cNvPr id="645668230" name="TextBox 17"/>
          <p:cNvSpPr txBox="1"/>
          <p:nvPr/>
        </p:nvSpPr>
        <p:spPr bwMode="auto">
          <a:xfrm>
            <a:off x="1097280" y="4069080"/>
            <a:ext cx="99669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12203A"/>
                </a:solidFill>
                <a:latin typeface="Calibri"/>
              </a:rPr>
              <a:t>Один «универсальный документ для всех» обычно либо перегружен, либо бесполезен.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81753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569597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9881673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90624296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Почему документ нужно соблюдать? Ищем источник требования</a:t>
            </a:r>
            <a:endParaRPr/>
          </a:p>
        </p:txBody>
      </p:sp>
      <p:sp>
        <p:nvSpPr>
          <p:cNvPr id="1534684705" name="Rounded Rectangle 5"/>
          <p:cNvSpPr/>
          <p:nvPr/>
        </p:nvSpPr>
        <p:spPr bwMode="auto">
          <a:xfrm>
            <a:off x="685800" y="1234440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7811559" name="TextBox 6"/>
          <p:cNvSpPr txBox="1"/>
          <p:nvPr/>
        </p:nvSpPr>
        <p:spPr bwMode="auto">
          <a:xfrm>
            <a:off x="850392" y="1389888"/>
            <a:ext cx="2185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Закон / режим</a:t>
            </a:r>
            <a:endParaRPr/>
          </a:p>
        </p:txBody>
      </p:sp>
      <p:sp>
        <p:nvSpPr>
          <p:cNvPr id="755805217" name="TextBox 7"/>
          <p:cNvSpPr txBox="1"/>
          <p:nvPr/>
        </p:nvSpPr>
        <p:spPr bwMode="auto">
          <a:xfrm>
            <a:off x="850392" y="1783080"/>
            <a:ext cx="218541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Для отдельных проектов требования к документам могут следовать из обязательного регулирования.</a:t>
            </a:r>
            <a:endParaRPr/>
          </a:p>
        </p:txBody>
      </p:sp>
      <p:sp>
        <p:nvSpPr>
          <p:cNvPr id="845947613" name="Rounded Rectangle 8"/>
          <p:cNvSpPr/>
          <p:nvPr/>
        </p:nvSpPr>
        <p:spPr bwMode="auto">
          <a:xfrm>
            <a:off x="3429000" y="1234440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9417735" name="TextBox 9"/>
          <p:cNvSpPr txBox="1"/>
          <p:nvPr/>
        </p:nvSpPr>
        <p:spPr bwMode="auto">
          <a:xfrm>
            <a:off x="3593592" y="1389888"/>
            <a:ext cx="2185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Контракт / закупка</a:t>
            </a:r>
            <a:endParaRPr/>
          </a:p>
        </p:txBody>
      </p:sp>
      <p:sp>
        <p:nvSpPr>
          <p:cNvPr id="1213936270" name="TextBox 10"/>
          <p:cNvSpPr txBox="1"/>
          <p:nvPr/>
        </p:nvSpPr>
        <p:spPr bwMode="auto">
          <a:xfrm>
            <a:off x="3593592" y="1783080"/>
            <a:ext cx="218541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Стороны могут прямо зафиксировать комплект и стандарты документации.</a:t>
            </a:r>
            <a:endParaRPr/>
          </a:p>
        </p:txBody>
      </p:sp>
      <p:sp>
        <p:nvSpPr>
          <p:cNvPr id="1934665965" name="Rounded Rectangle 11"/>
          <p:cNvSpPr/>
          <p:nvPr/>
        </p:nvSpPr>
        <p:spPr bwMode="auto">
          <a:xfrm>
            <a:off x="6172200" y="1234440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3182870" name="TextBox 12"/>
          <p:cNvSpPr txBox="1"/>
          <p:nvPr/>
        </p:nvSpPr>
        <p:spPr bwMode="auto">
          <a:xfrm>
            <a:off x="6336792" y="1389888"/>
            <a:ext cx="2185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ТЗ / проект</a:t>
            </a:r>
            <a:endParaRPr/>
          </a:p>
        </p:txBody>
      </p:sp>
      <p:sp>
        <p:nvSpPr>
          <p:cNvPr id="683029302" name="TextBox 13"/>
          <p:cNvSpPr txBox="1"/>
          <p:nvPr/>
        </p:nvSpPr>
        <p:spPr bwMode="auto">
          <a:xfrm>
            <a:off x="6336792" y="1783080"/>
            <a:ext cx="218541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ТЗ может определить состав, формат и сроки документации.</a:t>
            </a:r>
            <a:endParaRPr/>
          </a:p>
        </p:txBody>
      </p:sp>
      <p:sp>
        <p:nvSpPr>
          <p:cNvPr id="2107125297" name="Rounded Rectangle 14"/>
          <p:cNvSpPr/>
          <p:nvPr/>
        </p:nvSpPr>
        <p:spPr bwMode="auto">
          <a:xfrm>
            <a:off x="8915400" y="1234440"/>
            <a:ext cx="2514600" cy="219456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949202" name="TextBox 15"/>
          <p:cNvSpPr txBox="1"/>
          <p:nvPr/>
        </p:nvSpPr>
        <p:spPr bwMode="auto">
          <a:xfrm>
            <a:off x="9079992" y="1389888"/>
            <a:ext cx="2185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Внутренние правила</a:t>
            </a:r>
            <a:endParaRPr/>
          </a:p>
        </p:txBody>
      </p:sp>
      <p:sp>
        <p:nvSpPr>
          <p:cNvPr id="693827184" name="TextBox 16"/>
          <p:cNvSpPr txBox="1"/>
          <p:nvPr/>
        </p:nvSpPr>
        <p:spPr bwMode="auto">
          <a:xfrm>
            <a:off x="9079992" y="1783080"/>
            <a:ext cx="218541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Компания может закрепить обязательные шаблоны и docs-as-code процесс.</a:t>
            </a:r>
            <a:endParaRPr/>
          </a:p>
        </p:txBody>
      </p:sp>
      <p:sp>
        <p:nvSpPr>
          <p:cNvPr id="1689669712" name="TextBox 17"/>
          <p:cNvSpPr txBox="1"/>
          <p:nvPr/>
        </p:nvSpPr>
        <p:spPr bwMode="auto">
          <a:xfrm>
            <a:off x="1005840" y="4160519"/>
            <a:ext cx="102412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900" b="1">
                <a:solidFill>
                  <a:srgbClr val="12203A"/>
                </a:solidFill>
                <a:latin typeface="Calibri"/>
              </a:rPr>
              <a:t>«ГОСТ существует» ≠ «он автоматически обязателен каждому программисту».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186602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2272095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276084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649311780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Программа и автоматизированная система — разный масштаб</a:t>
            </a:r>
            <a:endParaRPr/>
          </a:p>
        </p:txBody>
      </p:sp>
      <p:sp>
        <p:nvSpPr>
          <p:cNvPr id="1685305986" name="Rounded Rectangle 5"/>
          <p:cNvSpPr/>
          <p:nvPr/>
        </p:nvSpPr>
        <p:spPr bwMode="auto">
          <a:xfrm>
            <a:off x="731520" y="1234440"/>
            <a:ext cx="4983480" cy="33375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292943" name="TextBox 6"/>
          <p:cNvSpPr txBox="1"/>
          <p:nvPr/>
        </p:nvSpPr>
        <p:spPr bwMode="auto">
          <a:xfrm>
            <a:off x="896112" y="1389888"/>
            <a:ext cx="4654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ПРОГРАММА</a:t>
            </a:r>
            <a:endParaRPr/>
          </a:p>
        </p:txBody>
      </p:sp>
      <p:sp>
        <p:nvSpPr>
          <p:cNvPr id="1929417121" name="TextBox 7"/>
          <p:cNvSpPr txBox="1"/>
          <p:nvPr/>
        </p:nvSpPr>
        <p:spPr bwMode="auto">
          <a:xfrm>
            <a:off x="896112" y="1783080"/>
            <a:ext cx="465429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CampusDesk Web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frontend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backend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REST API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логика статусов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работа с вложениями</a:t>
            </a:r>
            <a:endParaRPr/>
          </a:p>
        </p:txBody>
      </p:sp>
      <p:sp>
        <p:nvSpPr>
          <p:cNvPr id="859175591" name="Rounded Rectangle 8"/>
          <p:cNvSpPr/>
          <p:nvPr/>
        </p:nvSpPr>
        <p:spPr bwMode="auto">
          <a:xfrm>
            <a:off x="6446520" y="1234440"/>
            <a:ext cx="4983480" cy="33375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1002071" name="TextBox 9"/>
          <p:cNvSpPr txBox="1"/>
          <p:nvPr/>
        </p:nvSpPr>
        <p:spPr bwMode="auto">
          <a:xfrm>
            <a:off x="6611112" y="1389888"/>
            <a:ext cx="4654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АВТОМАТИЗИРОВАННАЯ СИСТЕМА</a:t>
            </a:r>
            <a:endParaRPr/>
          </a:p>
        </p:txBody>
      </p:sp>
      <p:sp>
        <p:nvSpPr>
          <p:cNvPr id="1166061928" name="TextBox 10"/>
          <p:cNvSpPr txBox="1"/>
          <p:nvPr/>
        </p:nvSpPr>
        <p:spPr bwMode="auto">
          <a:xfrm>
            <a:off x="6611112" y="1783080"/>
            <a:ext cx="465429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АС CampusDesk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• программа + БД + серверы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• SSO + почта + хранилище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• пользователи и роли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• процедуры эксплуатации</a:t>
            </a:r>
            <a:endParaRPr/>
          </a:p>
        </p:txBody>
      </p:sp>
      <p:sp>
        <p:nvSpPr>
          <p:cNvPr id="115688396" name="TextBox 11"/>
          <p:cNvSpPr txBox="1"/>
          <p:nvPr/>
        </p:nvSpPr>
        <p:spPr bwMode="auto">
          <a:xfrm>
            <a:off x="914400" y="4937760"/>
            <a:ext cx="1033272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650" b="1">
                <a:solidFill>
                  <a:srgbClr val="12203A"/>
                </a:solidFill>
                <a:latin typeface="Calibri"/>
              </a:rPr>
              <a:t>Программа может быть частью АС. ГОСТ 19 и стандарты на АС не образуют лестницу «кто выше».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20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163088" name="Rounded Rectangle 3"/>
          <p:cNvSpPr/>
          <p:nvPr/>
        </p:nvSpPr>
        <p:spPr bwMode="auto">
          <a:xfrm>
            <a:off x="10241280" y="420624"/>
            <a:ext cx="1417320" cy="338328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456191" name="TextBox 4"/>
          <p:cNvSpPr txBox="1"/>
          <p:nvPr/>
        </p:nvSpPr>
        <p:spPr bwMode="auto">
          <a:xfrm>
            <a:off x="10323576" y="507492"/>
            <a:ext cx="1252728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219282721" name="TextBox 5"/>
          <p:cNvSpPr txBox="1"/>
          <p:nvPr/>
        </p:nvSpPr>
        <p:spPr bwMode="auto">
          <a:xfrm>
            <a:off x="731520" y="1234440"/>
            <a:ext cx="69951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3100" b="1">
                <a:solidFill>
                  <a:srgbClr val="FFFFFF"/>
                </a:solidFill>
                <a:latin typeface="Calibri"/>
              </a:rPr>
              <a:t>ЕСПД</a:t>
            </a:r>
            <a:endParaRPr/>
          </a:p>
        </p:txBody>
      </p:sp>
      <p:sp>
        <p:nvSpPr>
          <p:cNvPr id="1424424106" name="TextBox 6"/>
          <p:cNvSpPr txBox="1"/>
          <p:nvPr/>
        </p:nvSpPr>
        <p:spPr bwMode="auto">
          <a:xfrm>
            <a:off x="758952" y="2971800"/>
            <a:ext cx="67665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C9D2E3"/>
                </a:solidFill>
                <a:latin typeface="Calibri"/>
              </a:rPr>
              <a:t>Единая система программной документации — язык документов вокруг программы</a:t>
            </a:r>
            <a:endParaRPr/>
          </a:p>
        </p:txBody>
      </p:sp>
      <p:sp>
        <p:nvSpPr>
          <p:cNvPr id="2016816363" name="Rounded Rectangle 7"/>
          <p:cNvSpPr/>
          <p:nvPr/>
        </p:nvSpPr>
        <p:spPr bwMode="auto">
          <a:xfrm>
            <a:off x="8321039" y="132588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210128" name="TextBox 8"/>
          <p:cNvSpPr txBox="1"/>
          <p:nvPr/>
        </p:nvSpPr>
        <p:spPr bwMode="auto">
          <a:xfrm>
            <a:off x="8458200" y="146303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19.101</a:t>
            </a:r>
            <a:endParaRPr/>
          </a:p>
        </p:txBody>
      </p:sp>
      <p:sp>
        <p:nvSpPr>
          <p:cNvPr id="370844309" name="Rounded Rectangle 9"/>
          <p:cNvSpPr/>
          <p:nvPr/>
        </p:nvSpPr>
        <p:spPr bwMode="auto">
          <a:xfrm>
            <a:off x="8321039" y="196596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8304" name="TextBox 10"/>
          <p:cNvSpPr txBox="1"/>
          <p:nvPr/>
        </p:nvSpPr>
        <p:spPr bwMode="auto">
          <a:xfrm>
            <a:off x="8458200" y="2103120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19.201</a:t>
            </a:r>
            <a:endParaRPr/>
          </a:p>
        </p:txBody>
      </p:sp>
      <p:sp>
        <p:nvSpPr>
          <p:cNvPr id="1436154233" name="Rounded Rectangle 11"/>
          <p:cNvSpPr/>
          <p:nvPr/>
        </p:nvSpPr>
        <p:spPr bwMode="auto">
          <a:xfrm>
            <a:off x="8321039" y="2606039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083325" name="TextBox 12"/>
          <p:cNvSpPr txBox="1"/>
          <p:nvPr/>
        </p:nvSpPr>
        <p:spPr bwMode="auto">
          <a:xfrm>
            <a:off x="8458200" y="274319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19.301</a:t>
            </a:r>
            <a:endParaRPr/>
          </a:p>
        </p:txBody>
      </p:sp>
      <p:sp>
        <p:nvSpPr>
          <p:cNvPr id="687275636" name="Rounded Rectangle 13"/>
          <p:cNvSpPr/>
          <p:nvPr/>
        </p:nvSpPr>
        <p:spPr bwMode="auto">
          <a:xfrm>
            <a:off x="8321039" y="324612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9138229" name="TextBox 14"/>
          <p:cNvSpPr txBox="1"/>
          <p:nvPr/>
        </p:nvSpPr>
        <p:spPr bwMode="auto">
          <a:xfrm>
            <a:off x="8458200" y="338327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19.505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548984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996291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9143519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753749742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ЕСПД: четыре опорных документа</a:t>
            </a:r>
            <a:endParaRPr/>
          </a:p>
        </p:txBody>
      </p:sp>
      <p:sp>
        <p:nvSpPr>
          <p:cNvPr id="1389820388" name="Rounded Rectangle 5"/>
          <p:cNvSpPr/>
          <p:nvPr/>
        </p:nvSpPr>
        <p:spPr bwMode="auto">
          <a:xfrm>
            <a:off x="502920" y="1325880"/>
            <a:ext cx="2697480" cy="22402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869239" name="TextBox 6"/>
          <p:cNvSpPr txBox="1"/>
          <p:nvPr/>
        </p:nvSpPr>
        <p:spPr bwMode="auto">
          <a:xfrm>
            <a:off x="66751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19.101-2024</a:t>
            </a:r>
            <a:endParaRPr/>
          </a:p>
        </p:txBody>
      </p:sp>
      <p:sp>
        <p:nvSpPr>
          <p:cNvPr id="706612727" name="TextBox 7"/>
          <p:cNvSpPr txBox="1"/>
          <p:nvPr/>
        </p:nvSpPr>
        <p:spPr bwMode="auto">
          <a:xfrm>
            <a:off x="667512" y="1874519"/>
            <a:ext cx="2368296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виды программ и программных документов</a:t>
            </a:r>
            <a:endParaRPr/>
          </a:p>
        </p:txBody>
      </p:sp>
      <p:sp>
        <p:nvSpPr>
          <p:cNvPr id="1026732884" name="Rounded Rectangle 8"/>
          <p:cNvSpPr/>
          <p:nvPr/>
        </p:nvSpPr>
        <p:spPr bwMode="auto">
          <a:xfrm>
            <a:off x="3337560" y="1325880"/>
            <a:ext cx="2697480" cy="224028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756340" name="TextBox 9"/>
          <p:cNvSpPr txBox="1"/>
          <p:nvPr/>
        </p:nvSpPr>
        <p:spPr bwMode="auto">
          <a:xfrm>
            <a:off x="350215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19.201-78</a:t>
            </a:r>
            <a:endParaRPr/>
          </a:p>
        </p:txBody>
      </p:sp>
      <p:sp>
        <p:nvSpPr>
          <p:cNvPr id="1206065119" name="TextBox 10"/>
          <p:cNvSpPr txBox="1"/>
          <p:nvPr/>
        </p:nvSpPr>
        <p:spPr bwMode="auto">
          <a:xfrm>
            <a:off x="3502152" y="1874519"/>
            <a:ext cx="2368296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техническое задание на программу</a:t>
            </a:r>
            <a:endParaRPr/>
          </a:p>
        </p:txBody>
      </p:sp>
      <p:sp>
        <p:nvSpPr>
          <p:cNvPr id="321301962" name="Rounded Rectangle 11"/>
          <p:cNvSpPr/>
          <p:nvPr/>
        </p:nvSpPr>
        <p:spPr bwMode="auto">
          <a:xfrm>
            <a:off x="6172200" y="1325880"/>
            <a:ext cx="2697480" cy="224028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0775897" name="TextBox 12"/>
          <p:cNvSpPr txBox="1"/>
          <p:nvPr/>
        </p:nvSpPr>
        <p:spPr bwMode="auto">
          <a:xfrm>
            <a:off x="633679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19.301-79</a:t>
            </a:r>
            <a:endParaRPr/>
          </a:p>
        </p:txBody>
      </p:sp>
      <p:sp>
        <p:nvSpPr>
          <p:cNvPr id="206456423" name="TextBox 13"/>
          <p:cNvSpPr txBox="1"/>
          <p:nvPr/>
        </p:nvSpPr>
        <p:spPr bwMode="auto">
          <a:xfrm>
            <a:off x="6336792" y="1874519"/>
            <a:ext cx="2368296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программа и методика испытаний</a:t>
            </a:r>
            <a:endParaRPr/>
          </a:p>
        </p:txBody>
      </p:sp>
      <p:sp>
        <p:nvSpPr>
          <p:cNvPr id="1345141449" name="Rounded Rectangle 14"/>
          <p:cNvSpPr/>
          <p:nvPr/>
        </p:nvSpPr>
        <p:spPr bwMode="auto">
          <a:xfrm>
            <a:off x="9006840" y="1325880"/>
            <a:ext cx="2697480" cy="224028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104459" name="TextBox 15"/>
          <p:cNvSpPr txBox="1"/>
          <p:nvPr/>
        </p:nvSpPr>
        <p:spPr bwMode="auto">
          <a:xfrm>
            <a:off x="917143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19.505-79</a:t>
            </a:r>
            <a:endParaRPr/>
          </a:p>
        </p:txBody>
      </p:sp>
      <p:sp>
        <p:nvSpPr>
          <p:cNvPr id="499881906" name="TextBox 16"/>
          <p:cNvSpPr txBox="1"/>
          <p:nvPr/>
        </p:nvSpPr>
        <p:spPr bwMode="auto">
          <a:xfrm>
            <a:off x="9171432" y="1874519"/>
            <a:ext cx="2368296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руководство оператора</a:t>
            </a:r>
            <a:endParaRPr/>
          </a:p>
        </p:txBody>
      </p:sp>
      <p:sp>
        <p:nvSpPr>
          <p:cNvPr id="1469721037" name="Rounded Rectangle 17"/>
          <p:cNvSpPr/>
          <p:nvPr/>
        </p:nvSpPr>
        <p:spPr bwMode="auto">
          <a:xfrm>
            <a:off x="1051560" y="4160519"/>
            <a:ext cx="10058400" cy="77724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297175" name="TextBox 18"/>
          <p:cNvSpPr txBox="1"/>
          <p:nvPr/>
        </p:nvSpPr>
        <p:spPr bwMode="auto">
          <a:xfrm>
            <a:off x="1234440" y="4389120"/>
            <a:ext cx="96926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Важно: ГОСТ 19.101-77 заменён ГОСТ 19.101-2024. Статус всегда проверяем в Росстандарте.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567959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5229298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94417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120705016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Стадии разработки ≠ обязательный Waterfall</a:t>
            </a:r>
            <a:endParaRPr/>
          </a:p>
        </p:txBody>
      </p:sp>
      <p:sp>
        <p:nvSpPr>
          <p:cNvPr id="1069351309" name="Rounded Rectangle 5"/>
          <p:cNvSpPr/>
          <p:nvPr/>
        </p:nvSpPr>
        <p:spPr bwMode="auto">
          <a:xfrm>
            <a:off x="685800" y="1234440"/>
            <a:ext cx="3154680" cy="21945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761562" name="TextBox 6"/>
          <p:cNvSpPr txBox="1"/>
          <p:nvPr/>
        </p:nvSpPr>
        <p:spPr bwMode="auto">
          <a:xfrm>
            <a:off x="850392" y="1389888"/>
            <a:ext cx="28254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Инженерная логика</a:t>
            </a:r>
            <a:endParaRPr/>
          </a:p>
        </p:txBody>
      </p:sp>
      <p:sp>
        <p:nvSpPr>
          <p:cNvPr id="62670136" name="TextBox 7"/>
          <p:cNvSpPr txBox="1"/>
          <p:nvPr/>
        </p:nvSpPr>
        <p:spPr bwMode="auto">
          <a:xfrm>
            <a:off x="850392" y="1783080"/>
            <a:ext cx="282549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Понять задачу → зафиксировать требования → спроектировать → реализовать → проверить</a:t>
            </a:r>
            <a:endParaRPr/>
          </a:p>
        </p:txBody>
      </p:sp>
      <p:sp>
        <p:nvSpPr>
          <p:cNvPr id="1226695759" name="Rounded Rectangle 8"/>
          <p:cNvSpPr/>
          <p:nvPr/>
        </p:nvSpPr>
        <p:spPr bwMode="auto">
          <a:xfrm>
            <a:off x="4526280" y="1234440"/>
            <a:ext cx="3154680" cy="21945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769185" name="TextBox 9"/>
          <p:cNvSpPr txBox="1"/>
          <p:nvPr/>
        </p:nvSpPr>
        <p:spPr bwMode="auto">
          <a:xfrm>
            <a:off x="4690872" y="1389888"/>
            <a:ext cx="28254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Agile-итерации</a:t>
            </a:r>
            <a:endParaRPr/>
          </a:p>
        </p:txBody>
      </p:sp>
      <p:sp>
        <p:nvSpPr>
          <p:cNvPr id="1324614034" name="TextBox 10"/>
          <p:cNvSpPr txBox="1"/>
          <p:nvPr/>
        </p:nvSpPr>
        <p:spPr bwMode="auto">
          <a:xfrm>
            <a:off x="4690872" y="1783080"/>
            <a:ext cx="282549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Те же действия могут повторяться по частям в каждом спринте.</a:t>
            </a:r>
            <a:endParaRPr/>
          </a:p>
        </p:txBody>
      </p:sp>
      <p:sp>
        <p:nvSpPr>
          <p:cNvPr id="745321360" name="Rounded Rectangle 11"/>
          <p:cNvSpPr/>
          <p:nvPr/>
        </p:nvSpPr>
        <p:spPr bwMode="auto">
          <a:xfrm>
            <a:off x="8366760" y="1234440"/>
            <a:ext cx="3154680" cy="219456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546738" name="TextBox 12"/>
          <p:cNvSpPr txBox="1"/>
          <p:nvPr/>
        </p:nvSpPr>
        <p:spPr bwMode="auto">
          <a:xfrm>
            <a:off x="8531352" y="1389888"/>
            <a:ext cx="28254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Не путать уровни</a:t>
            </a:r>
            <a:endParaRPr/>
          </a:p>
        </p:txBody>
      </p:sp>
      <p:sp>
        <p:nvSpPr>
          <p:cNvPr id="404700167" name="TextBox 13"/>
          <p:cNvSpPr txBox="1"/>
          <p:nvPr/>
        </p:nvSpPr>
        <p:spPr bwMode="auto">
          <a:xfrm>
            <a:off x="8531352" y="1783080"/>
            <a:ext cx="282549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Стадии создания продукта и способ организации команды — разные вещи.</a:t>
            </a:r>
            <a:endParaRPr/>
          </a:p>
        </p:txBody>
      </p:sp>
      <p:sp>
        <p:nvSpPr>
          <p:cNvPr id="2043668745" name="TextBox 14"/>
          <p:cNvSpPr txBox="1"/>
          <p:nvPr/>
        </p:nvSpPr>
        <p:spPr bwMode="auto">
          <a:xfrm>
            <a:off x="1097280" y="4160519"/>
            <a:ext cx="9966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ГОСТ 19.102-77 описывает стадии разработки программ и программной документации.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587220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3778922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9120160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733835533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Техническое задание: договорённость о результате</a:t>
            </a:r>
            <a:endParaRPr/>
          </a:p>
        </p:txBody>
      </p:sp>
      <p:sp>
        <p:nvSpPr>
          <p:cNvPr id="1635803053" name="Rounded Rectangle 5"/>
          <p:cNvSpPr/>
          <p:nvPr/>
        </p:nvSpPr>
        <p:spPr bwMode="auto">
          <a:xfrm>
            <a:off x="685800" y="1143000"/>
            <a:ext cx="5212080" cy="3200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19214" name="TextBox 6"/>
          <p:cNvSpPr txBox="1"/>
          <p:nvPr/>
        </p:nvSpPr>
        <p:spPr bwMode="auto">
          <a:xfrm>
            <a:off x="850392" y="1298448"/>
            <a:ext cx="48828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ТЗ отвечает</a:t>
            </a:r>
            <a:endParaRPr/>
          </a:p>
        </p:txBody>
      </p:sp>
      <p:sp>
        <p:nvSpPr>
          <p:cNvPr id="1571742878" name="TextBox 7"/>
          <p:cNvSpPr txBox="1"/>
          <p:nvPr/>
        </p:nvSpPr>
        <p:spPr bwMode="auto">
          <a:xfrm>
            <a:off x="850392" y="1691640"/>
            <a:ext cx="488289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Что создаём?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Для кого?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Какие функции?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Какие ограничения?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Какая документация?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 будет проверяться?</a:t>
            </a:r>
            <a:endParaRPr/>
          </a:p>
        </p:txBody>
      </p:sp>
      <p:sp>
        <p:nvSpPr>
          <p:cNvPr id="1964415078" name="Rounded Rectangle 8"/>
          <p:cNvSpPr/>
          <p:nvPr/>
        </p:nvSpPr>
        <p:spPr bwMode="auto">
          <a:xfrm>
            <a:off x="6263640" y="1143000"/>
            <a:ext cx="5212080" cy="320040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8222034" name="TextBox 9"/>
          <p:cNvSpPr txBox="1"/>
          <p:nvPr/>
        </p:nvSpPr>
        <p:spPr bwMode="auto">
          <a:xfrm>
            <a:off x="6428231" y="1298448"/>
            <a:ext cx="48828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ТЗ не обязано</a:t>
            </a:r>
            <a:endParaRPr/>
          </a:p>
        </p:txBody>
      </p:sp>
      <p:sp>
        <p:nvSpPr>
          <p:cNvPr id="1730835280" name="TextBox 10"/>
          <p:cNvSpPr txBox="1"/>
          <p:nvPr/>
        </p:nvSpPr>
        <p:spPr bwMode="auto">
          <a:xfrm>
            <a:off x="6428231" y="1691640"/>
            <a:ext cx="488289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Описывать каждую строку кода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Фиксировать все внутренние алгоритмы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Предсказывать каждое решение разработчика</a:t>
            </a:r>
            <a:endParaRPr/>
          </a:p>
        </p:txBody>
      </p:sp>
      <p:sp>
        <p:nvSpPr>
          <p:cNvPr id="615648389" name="TextBox 11"/>
          <p:cNvSpPr txBox="1"/>
          <p:nvPr/>
        </p:nvSpPr>
        <p:spPr bwMode="auto"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Хорошее ТЗ создаёт границу между «примерно хотели» и проверяемым результатом.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214428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3167903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540972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731137290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Функциональные и нефункциональные требования</a:t>
            </a:r>
            <a:endParaRPr/>
          </a:p>
        </p:txBody>
      </p:sp>
      <p:sp>
        <p:nvSpPr>
          <p:cNvPr id="662576148" name="Rounded Rectangle 5"/>
          <p:cNvSpPr/>
          <p:nvPr/>
        </p:nvSpPr>
        <p:spPr bwMode="auto">
          <a:xfrm>
            <a:off x="777240" y="1234440"/>
            <a:ext cx="4892039" cy="29718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8010403" name="TextBox 6"/>
          <p:cNvSpPr txBox="1"/>
          <p:nvPr/>
        </p:nvSpPr>
        <p:spPr bwMode="auto">
          <a:xfrm>
            <a:off x="941832" y="1389888"/>
            <a:ext cx="4562855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ФУНКЦИОНАЛЬНЫЕ</a:t>
            </a:r>
            <a:endParaRPr/>
          </a:p>
        </p:txBody>
      </p:sp>
      <p:sp>
        <p:nvSpPr>
          <p:cNvPr id="837265235" name="TextBox 7"/>
          <p:cNvSpPr txBox="1"/>
          <p:nvPr/>
        </p:nvSpPr>
        <p:spPr bwMode="auto">
          <a:xfrm>
            <a:off x="941832" y="1783080"/>
            <a:ext cx="4562855" cy="23042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Что система делает?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создать обращение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изменить статус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отправить уведомление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добавить комментарий</a:t>
            </a:r>
            <a:endParaRPr/>
          </a:p>
        </p:txBody>
      </p:sp>
      <p:sp>
        <p:nvSpPr>
          <p:cNvPr id="840484554" name="Rounded Rectangle 8"/>
          <p:cNvSpPr/>
          <p:nvPr/>
        </p:nvSpPr>
        <p:spPr bwMode="auto">
          <a:xfrm>
            <a:off x="6492240" y="1234440"/>
            <a:ext cx="4892039" cy="29718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272207" name="TextBox 9"/>
          <p:cNvSpPr txBox="1"/>
          <p:nvPr/>
        </p:nvSpPr>
        <p:spPr bwMode="auto">
          <a:xfrm>
            <a:off x="6656831" y="1389888"/>
            <a:ext cx="4562855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НЕФУНКЦИОНАЛЬНЫЕ</a:t>
            </a:r>
            <a:endParaRPr/>
          </a:p>
        </p:txBody>
      </p:sp>
      <p:sp>
        <p:nvSpPr>
          <p:cNvPr id="1853169076" name="TextBox 10"/>
          <p:cNvSpPr txBox="1"/>
          <p:nvPr/>
        </p:nvSpPr>
        <p:spPr bwMode="auto">
          <a:xfrm>
            <a:off x="6656831" y="1783080"/>
            <a:ext cx="4562855" cy="23042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Какими свойствами обладает?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производительность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надёжность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безопасность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совместимость</a:t>
            </a:r>
            <a:endParaRPr/>
          </a:p>
        </p:txBody>
      </p:sp>
      <p:sp>
        <p:nvSpPr>
          <p:cNvPr id="1480481887" name="TextBox 11"/>
          <p:cNvSpPr txBox="1"/>
          <p:nvPr/>
        </p:nvSpPr>
        <p:spPr bwMode="auto">
          <a:xfrm>
            <a:off x="2011680" y="4572000"/>
            <a:ext cx="81381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2100" b="1">
                <a:solidFill>
                  <a:srgbClr val="12203A"/>
                </a:solidFill>
                <a:latin typeface="Calibri"/>
              </a:rPr>
              <a:t>Нефункциональное ≠ необязательное.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869187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988239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126790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749290379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Хорошее требование можно проверить</a:t>
            </a:r>
            <a:endParaRPr/>
          </a:p>
        </p:txBody>
      </p:sp>
      <p:sp>
        <p:nvSpPr>
          <p:cNvPr id="1332697067" name="Rounded Rectangle 5"/>
          <p:cNvSpPr/>
          <p:nvPr/>
        </p:nvSpPr>
        <p:spPr bwMode="auto">
          <a:xfrm>
            <a:off x="594360" y="123444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795336" name="TextBox 6"/>
          <p:cNvSpPr txBox="1"/>
          <p:nvPr/>
        </p:nvSpPr>
        <p:spPr bwMode="auto">
          <a:xfrm>
            <a:off x="758952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1025744399" name="TextBox 7"/>
          <p:cNvSpPr txBox="1"/>
          <p:nvPr/>
        </p:nvSpPr>
        <p:spPr bwMode="auto">
          <a:xfrm>
            <a:off x="758952" y="178308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Однозначное</a:t>
            </a:r>
            <a:endParaRPr/>
          </a:p>
        </p:txBody>
      </p:sp>
      <p:sp>
        <p:nvSpPr>
          <p:cNvPr id="1937209743" name="Rounded Rectangle 8"/>
          <p:cNvSpPr/>
          <p:nvPr/>
        </p:nvSpPr>
        <p:spPr bwMode="auto">
          <a:xfrm>
            <a:off x="4389120" y="123444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2790145" name="TextBox 9"/>
          <p:cNvSpPr txBox="1"/>
          <p:nvPr/>
        </p:nvSpPr>
        <p:spPr bwMode="auto">
          <a:xfrm>
            <a:off x="4553712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274681794" name="TextBox 10"/>
          <p:cNvSpPr txBox="1"/>
          <p:nvPr/>
        </p:nvSpPr>
        <p:spPr bwMode="auto">
          <a:xfrm>
            <a:off x="4553712" y="178308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Конкретное</a:t>
            </a:r>
            <a:endParaRPr/>
          </a:p>
        </p:txBody>
      </p:sp>
      <p:sp>
        <p:nvSpPr>
          <p:cNvPr id="1610843754" name="Rounded Rectangle 11"/>
          <p:cNvSpPr/>
          <p:nvPr/>
        </p:nvSpPr>
        <p:spPr bwMode="auto">
          <a:xfrm>
            <a:off x="8183880" y="123444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991565" name="TextBox 12"/>
          <p:cNvSpPr txBox="1"/>
          <p:nvPr/>
        </p:nvSpPr>
        <p:spPr bwMode="auto">
          <a:xfrm>
            <a:off x="8348471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1901104" name="TextBox 13"/>
          <p:cNvSpPr txBox="1"/>
          <p:nvPr/>
        </p:nvSpPr>
        <p:spPr bwMode="auto">
          <a:xfrm>
            <a:off x="8348471" y="178308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Проверяемое</a:t>
            </a:r>
            <a:endParaRPr/>
          </a:p>
        </p:txBody>
      </p:sp>
      <p:sp>
        <p:nvSpPr>
          <p:cNvPr id="1225334845" name="Rounded Rectangle 14"/>
          <p:cNvSpPr/>
          <p:nvPr/>
        </p:nvSpPr>
        <p:spPr bwMode="auto">
          <a:xfrm>
            <a:off x="594360" y="269748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535805" name="TextBox 15"/>
          <p:cNvSpPr txBox="1"/>
          <p:nvPr/>
        </p:nvSpPr>
        <p:spPr bwMode="auto">
          <a:xfrm>
            <a:off x="758952" y="285292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954431225" name="TextBox 16"/>
          <p:cNvSpPr txBox="1"/>
          <p:nvPr/>
        </p:nvSpPr>
        <p:spPr bwMode="auto">
          <a:xfrm>
            <a:off x="758952" y="324612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Достижимое</a:t>
            </a:r>
            <a:endParaRPr/>
          </a:p>
        </p:txBody>
      </p:sp>
      <p:sp>
        <p:nvSpPr>
          <p:cNvPr id="318923999" name="Rounded Rectangle 17"/>
          <p:cNvSpPr/>
          <p:nvPr/>
        </p:nvSpPr>
        <p:spPr bwMode="auto">
          <a:xfrm>
            <a:off x="4389120" y="269748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535855" name="TextBox 18"/>
          <p:cNvSpPr txBox="1"/>
          <p:nvPr/>
        </p:nvSpPr>
        <p:spPr bwMode="auto">
          <a:xfrm>
            <a:off x="4553712" y="285292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713109542" name="TextBox 19"/>
          <p:cNvSpPr txBox="1"/>
          <p:nvPr/>
        </p:nvSpPr>
        <p:spPr bwMode="auto">
          <a:xfrm>
            <a:off x="4553712" y="324612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Имеет ID</a:t>
            </a:r>
            <a:endParaRPr/>
          </a:p>
        </p:txBody>
      </p:sp>
      <p:sp>
        <p:nvSpPr>
          <p:cNvPr id="310105452" name="Rounded Rectangle 20"/>
          <p:cNvSpPr/>
          <p:nvPr/>
        </p:nvSpPr>
        <p:spPr bwMode="auto">
          <a:xfrm>
            <a:off x="8183880" y="269748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64403" name="TextBox 21"/>
          <p:cNvSpPr txBox="1"/>
          <p:nvPr/>
        </p:nvSpPr>
        <p:spPr bwMode="auto">
          <a:xfrm>
            <a:off x="8348471" y="285292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2203A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487443044" name="TextBox 22"/>
          <p:cNvSpPr txBox="1"/>
          <p:nvPr/>
        </p:nvSpPr>
        <p:spPr bwMode="auto">
          <a:xfrm>
            <a:off x="8348471" y="3246120"/>
            <a:ext cx="309981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Прослеживаемое</a:t>
            </a:r>
            <a:endParaRPr/>
          </a:p>
        </p:txBody>
      </p:sp>
      <p:sp>
        <p:nvSpPr>
          <p:cNvPr id="174566554" name="Rounded Rectangle 23"/>
          <p:cNvSpPr/>
          <p:nvPr/>
        </p:nvSpPr>
        <p:spPr bwMode="auto">
          <a:xfrm>
            <a:off x="1097280" y="4526280"/>
            <a:ext cx="9966960" cy="713232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883579" name="TextBox 24"/>
          <p:cNvSpPr txBox="1"/>
          <p:nvPr/>
        </p:nvSpPr>
        <p:spPr bwMode="auto">
          <a:xfrm>
            <a:off x="1325880" y="4736592"/>
            <a:ext cx="9509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Тестировщик должен суметь поставить объективный PASS или FAIL.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1670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696847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897214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782091853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Мини-кейс: превращаем пожелание в требование</a:t>
            </a:r>
            <a:endParaRPr/>
          </a:p>
        </p:txBody>
      </p:sp>
      <p:sp>
        <p:nvSpPr>
          <p:cNvPr id="1932945151" name="Rounded Rectangle 5"/>
          <p:cNvSpPr/>
          <p:nvPr/>
        </p:nvSpPr>
        <p:spPr bwMode="auto">
          <a:xfrm>
            <a:off x="731520" y="1188720"/>
            <a:ext cx="4846320" cy="219456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3711282" name="TextBox 6"/>
          <p:cNvSpPr txBox="1"/>
          <p:nvPr/>
        </p:nvSpPr>
        <p:spPr bwMode="auto">
          <a:xfrm>
            <a:off x="896112" y="1344168"/>
            <a:ext cx="45171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ПЛОХО</a:t>
            </a:r>
            <a:endParaRPr/>
          </a:p>
        </p:txBody>
      </p:sp>
      <p:sp>
        <p:nvSpPr>
          <p:cNvPr id="1661156511" name="TextBox 7"/>
          <p:cNvSpPr txBox="1"/>
          <p:nvPr/>
        </p:nvSpPr>
        <p:spPr bwMode="auto">
          <a:xfrm>
            <a:off x="896112" y="1737360"/>
            <a:ext cx="451713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«Система должна работать быстро».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Что измеряем? При какой нагрузке? Где граница успеха?</a:t>
            </a:r>
            <a:endParaRPr/>
          </a:p>
        </p:txBody>
      </p:sp>
      <p:sp>
        <p:nvSpPr>
          <p:cNvPr id="917811382" name="Rounded Rectangle 8"/>
          <p:cNvSpPr/>
          <p:nvPr/>
        </p:nvSpPr>
        <p:spPr bwMode="auto">
          <a:xfrm>
            <a:off x="6583680" y="1188720"/>
            <a:ext cx="4846320" cy="2194560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12700">
            <a:solidFill>
              <a:srgbClr val="57B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739346" name="TextBox 9"/>
          <p:cNvSpPr txBox="1"/>
          <p:nvPr/>
        </p:nvSpPr>
        <p:spPr bwMode="auto">
          <a:xfrm>
            <a:off x="6748272" y="1344168"/>
            <a:ext cx="45171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ЛУЧШЕ</a:t>
            </a:r>
            <a:endParaRPr/>
          </a:p>
        </p:txBody>
      </p:sp>
      <p:sp>
        <p:nvSpPr>
          <p:cNvPr id="100915924" name="TextBox 10"/>
          <p:cNvSpPr txBox="1"/>
          <p:nvPr/>
        </p:nvSpPr>
        <p:spPr bwMode="auto">
          <a:xfrm>
            <a:off x="6748272" y="1737360"/>
            <a:ext cx="4517136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REQ-PERF-01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При 300 активных пользователях 95 % запросов просмотра ≤ 2 с на штатном стенде.</a:t>
            </a:r>
            <a:endParaRPr/>
          </a:p>
        </p:txBody>
      </p:sp>
      <p:cxnSp>
        <p:nvCxnSpPr>
          <p:cNvPr id="305494424" name="Connector 11"/>
          <p:cNvCxnSpPr/>
          <p:nvPr/>
        </p:nvCxnSpPr>
        <p:spPr bwMode="auto">
          <a:xfrm>
            <a:off x="5669280" y="2286000"/>
            <a:ext cx="73152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4611791" name="TextBox 12"/>
          <p:cNvSpPr txBox="1"/>
          <p:nvPr/>
        </p:nvSpPr>
        <p:spPr bwMode="auto">
          <a:xfrm>
            <a:off x="1188720" y="4069080"/>
            <a:ext cx="9784079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900" b="1">
                <a:solidFill>
                  <a:srgbClr val="12203A"/>
                </a:solidFill>
                <a:latin typeface="Calibri"/>
              </a:rPr>
              <a:t>Из хорошего требования почти автоматически рождается идея теста.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777756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025566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9628596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2100317965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Прослеживаемость: dependency graph инженерных решений</a:t>
            </a:r>
            <a:endParaRPr/>
          </a:p>
        </p:txBody>
      </p:sp>
      <p:sp>
        <p:nvSpPr>
          <p:cNvPr id="680789421" name="Rounded Rectangle 5"/>
          <p:cNvSpPr/>
          <p:nvPr/>
        </p:nvSpPr>
        <p:spPr bwMode="auto">
          <a:xfrm>
            <a:off x="32004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0440003" name="TextBox 6"/>
          <p:cNvSpPr txBox="1"/>
          <p:nvPr/>
        </p:nvSpPr>
        <p:spPr bwMode="auto">
          <a:xfrm>
            <a:off x="411479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Источник</a:t>
            </a:r>
            <a:endParaRPr/>
          </a:p>
        </p:txBody>
      </p:sp>
      <p:cxnSp>
        <p:nvCxnSpPr>
          <p:cNvPr id="1471295623" name="Connector 7"/>
          <p:cNvCxnSpPr/>
          <p:nvPr/>
        </p:nvCxnSpPr>
        <p:spPr bwMode="auto">
          <a:xfrm>
            <a:off x="1801367" y="2057400"/>
            <a:ext cx="18288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0479343" name="Rounded Rectangle 8"/>
          <p:cNvSpPr/>
          <p:nvPr/>
        </p:nvSpPr>
        <p:spPr bwMode="auto">
          <a:xfrm>
            <a:off x="201168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18737" name="TextBox 9"/>
          <p:cNvSpPr txBox="1"/>
          <p:nvPr/>
        </p:nvSpPr>
        <p:spPr bwMode="auto">
          <a:xfrm>
            <a:off x="2103120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REQ-FUNC-03</a:t>
            </a:r>
            <a:endParaRPr/>
          </a:p>
        </p:txBody>
      </p:sp>
      <p:cxnSp>
        <p:nvCxnSpPr>
          <p:cNvPr id="572751277" name="Connector 10"/>
          <p:cNvCxnSpPr/>
          <p:nvPr/>
        </p:nvCxnSpPr>
        <p:spPr bwMode="auto">
          <a:xfrm>
            <a:off x="3493008" y="2057400"/>
            <a:ext cx="18288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5977491" name="Rounded Rectangle 11"/>
          <p:cNvSpPr/>
          <p:nvPr/>
        </p:nvSpPr>
        <p:spPr bwMode="auto">
          <a:xfrm>
            <a:off x="370332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559482" name="TextBox 12"/>
          <p:cNvSpPr txBox="1"/>
          <p:nvPr/>
        </p:nvSpPr>
        <p:spPr bwMode="auto">
          <a:xfrm>
            <a:off x="3794760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DEV-381</a:t>
            </a:r>
            <a:endParaRPr/>
          </a:p>
        </p:txBody>
      </p:sp>
      <p:cxnSp>
        <p:nvCxnSpPr>
          <p:cNvPr id="189196570" name="Connector 13"/>
          <p:cNvCxnSpPr/>
          <p:nvPr/>
        </p:nvCxnSpPr>
        <p:spPr bwMode="auto">
          <a:xfrm>
            <a:off x="5184648" y="2057400"/>
            <a:ext cx="18288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727307" name="Rounded Rectangle 14"/>
          <p:cNvSpPr/>
          <p:nvPr/>
        </p:nvSpPr>
        <p:spPr bwMode="auto">
          <a:xfrm>
            <a:off x="539496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7163178" name="TextBox 15"/>
          <p:cNvSpPr txBox="1"/>
          <p:nvPr/>
        </p:nvSpPr>
        <p:spPr bwMode="auto">
          <a:xfrm>
            <a:off x="5486400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Код</a:t>
            </a:r>
            <a:endParaRPr/>
          </a:p>
        </p:txBody>
      </p:sp>
      <p:cxnSp>
        <p:nvCxnSpPr>
          <p:cNvPr id="148761372" name="Connector 16"/>
          <p:cNvCxnSpPr/>
          <p:nvPr/>
        </p:nvCxnSpPr>
        <p:spPr bwMode="auto">
          <a:xfrm>
            <a:off x="6876288" y="2057400"/>
            <a:ext cx="18288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9444726" name="Rounded Rectangle 17"/>
          <p:cNvSpPr/>
          <p:nvPr/>
        </p:nvSpPr>
        <p:spPr bwMode="auto">
          <a:xfrm>
            <a:off x="708660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311669" name="TextBox 18"/>
          <p:cNvSpPr txBox="1"/>
          <p:nvPr/>
        </p:nvSpPr>
        <p:spPr bwMode="auto">
          <a:xfrm>
            <a:off x="7178039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TEST-03</a:t>
            </a:r>
            <a:endParaRPr/>
          </a:p>
        </p:txBody>
      </p:sp>
      <p:cxnSp>
        <p:nvCxnSpPr>
          <p:cNvPr id="302257172" name="Connector 19"/>
          <p:cNvCxnSpPr/>
          <p:nvPr/>
        </p:nvCxnSpPr>
        <p:spPr bwMode="auto">
          <a:xfrm>
            <a:off x="8567928" y="2057400"/>
            <a:ext cx="182880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1187139" name="Rounded Rectangle 20"/>
          <p:cNvSpPr/>
          <p:nvPr/>
        </p:nvSpPr>
        <p:spPr bwMode="auto">
          <a:xfrm>
            <a:off x="877824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9930252" name="TextBox 21"/>
          <p:cNvSpPr txBox="1"/>
          <p:nvPr/>
        </p:nvSpPr>
        <p:spPr bwMode="auto">
          <a:xfrm>
            <a:off x="8869680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Протокол</a:t>
            </a:r>
            <a:endParaRPr/>
          </a:p>
        </p:txBody>
      </p:sp>
      <p:cxnSp>
        <p:nvCxnSpPr>
          <p:cNvPr id="392951370" name="Connector 22"/>
          <p:cNvCxnSpPr/>
          <p:nvPr/>
        </p:nvCxnSpPr>
        <p:spPr bwMode="auto">
          <a:xfrm>
            <a:off x="10259567" y="2057400"/>
            <a:ext cx="182881" cy="0"/>
          </a:xfrm>
          <a:prstGeom prst="line">
            <a:avLst/>
          </a:prstGeom>
          <a:ln w="25400">
            <a:solidFill>
              <a:srgbClr val="4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237718" name="Rounded Rectangle 23"/>
          <p:cNvSpPr/>
          <p:nvPr/>
        </p:nvSpPr>
        <p:spPr bwMode="auto">
          <a:xfrm>
            <a:off x="10469880" y="160020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7180539" name="TextBox 24"/>
          <p:cNvSpPr txBox="1"/>
          <p:nvPr/>
        </p:nvSpPr>
        <p:spPr bwMode="auto">
          <a:xfrm>
            <a:off x="10561319" y="190195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150" b="1">
                <a:solidFill>
                  <a:srgbClr val="12203A"/>
                </a:solidFill>
                <a:latin typeface="Calibri"/>
              </a:rPr>
              <a:t>Руководство</a:t>
            </a:r>
            <a:endParaRPr/>
          </a:p>
        </p:txBody>
      </p:sp>
      <p:sp>
        <p:nvSpPr>
          <p:cNvPr id="441240267" name="Rounded Rectangle 25"/>
          <p:cNvSpPr/>
          <p:nvPr/>
        </p:nvSpPr>
        <p:spPr bwMode="auto">
          <a:xfrm>
            <a:off x="1143000" y="3246120"/>
            <a:ext cx="9921240" cy="123444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722748" name="TextBox 26"/>
          <p:cNvSpPr txBox="1"/>
          <p:nvPr/>
        </p:nvSpPr>
        <p:spPr bwMode="auto">
          <a:xfrm>
            <a:off x="1307592" y="3401568"/>
            <a:ext cx="959205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Зачем?</a:t>
            </a:r>
            <a:endParaRPr/>
          </a:p>
        </p:txBody>
      </p:sp>
      <p:sp>
        <p:nvSpPr>
          <p:cNvPr id="820069996" name="TextBox 27"/>
          <p:cNvSpPr txBox="1"/>
          <p:nvPr/>
        </p:nvSpPr>
        <p:spPr bwMode="auto">
          <a:xfrm>
            <a:off x="1307592" y="3794759"/>
            <a:ext cx="9592056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Если требование меняется, видно, какие задачи, тесты и документы нужно пересмотреть.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522659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216200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039649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705747025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ПМИ: заранее договорились, как доказывать</a:t>
            </a:r>
            <a:endParaRPr/>
          </a:p>
        </p:txBody>
      </p:sp>
      <p:sp>
        <p:nvSpPr>
          <p:cNvPr id="40449139" name="Rounded Rectangle 5"/>
          <p:cNvSpPr/>
          <p:nvPr/>
        </p:nvSpPr>
        <p:spPr bwMode="auto">
          <a:xfrm>
            <a:off x="640080" y="1143000"/>
            <a:ext cx="3657600" cy="33375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0125285" name="TextBox 6"/>
          <p:cNvSpPr txBox="1"/>
          <p:nvPr/>
        </p:nvSpPr>
        <p:spPr bwMode="auto">
          <a:xfrm>
            <a:off x="804671" y="1298448"/>
            <a:ext cx="3328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ТРЕБОВАНИЕ</a:t>
            </a:r>
            <a:endParaRPr/>
          </a:p>
        </p:txBody>
      </p:sp>
      <p:sp>
        <p:nvSpPr>
          <p:cNvPr id="1751054257" name="TextBox 7"/>
          <p:cNvSpPr txBox="1"/>
          <p:nvPr/>
        </p:nvSpPr>
        <p:spPr bwMode="auto">
          <a:xfrm>
            <a:off x="804671" y="1691640"/>
            <a:ext cx="332841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REQ-FUNC-01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После создания обращению присваивается уникальный номер.</a:t>
            </a:r>
            <a:endParaRPr/>
          </a:p>
        </p:txBody>
      </p:sp>
      <p:sp>
        <p:nvSpPr>
          <p:cNvPr id="998881278" name="Rounded Rectangle 8"/>
          <p:cNvSpPr/>
          <p:nvPr/>
        </p:nvSpPr>
        <p:spPr bwMode="auto">
          <a:xfrm>
            <a:off x="4526280" y="1143000"/>
            <a:ext cx="3657600" cy="33375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0804" name="TextBox 9"/>
          <p:cNvSpPr txBox="1"/>
          <p:nvPr/>
        </p:nvSpPr>
        <p:spPr bwMode="auto">
          <a:xfrm>
            <a:off x="4690872" y="1298448"/>
            <a:ext cx="33284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ИСПЫТАНИЕ</a:t>
            </a:r>
            <a:endParaRPr/>
          </a:p>
        </p:txBody>
      </p:sp>
      <p:sp>
        <p:nvSpPr>
          <p:cNvPr id="332370532" name="TextBox 10"/>
          <p:cNvSpPr txBox="1"/>
          <p:nvPr/>
        </p:nvSpPr>
        <p:spPr bwMode="auto">
          <a:xfrm>
            <a:off x="4690872" y="1691640"/>
            <a:ext cx="332841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Авторизоваться → создать обращение → проверить сохранение и ID.</a:t>
            </a:r>
            <a:endParaRPr/>
          </a:p>
        </p:txBody>
      </p:sp>
      <p:sp>
        <p:nvSpPr>
          <p:cNvPr id="1698889167" name="Rounded Rectangle 11"/>
          <p:cNvSpPr/>
          <p:nvPr/>
        </p:nvSpPr>
        <p:spPr bwMode="auto">
          <a:xfrm>
            <a:off x="8412480" y="1143000"/>
            <a:ext cx="3154680" cy="333756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7083966" name="TextBox 12"/>
          <p:cNvSpPr txBox="1"/>
          <p:nvPr/>
        </p:nvSpPr>
        <p:spPr bwMode="auto">
          <a:xfrm>
            <a:off x="8577072" y="1298448"/>
            <a:ext cx="28254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КРИТЕРИЙ</a:t>
            </a:r>
            <a:endParaRPr/>
          </a:p>
        </p:txBody>
      </p:sp>
      <p:sp>
        <p:nvSpPr>
          <p:cNvPr id="164716522" name="TextBox 13"/>
          <p:cNvSpPr txBox="1"/>
          <p:nvPr/>
        </p:nvSpPr>
        <p:spPr bwMode="auto">
          <a:xfrm>
            <a:off x="8577072" y="1691640"/>
            <a:ext cx="282549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PASS, если: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сохранено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ID уникален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• ID показан</a:t>
            </a:r>
            <a:endParaRPr/>
          </a:p>
        </p:txBody>
      </p:sp>
      <p:sp>
        <p:nvSpPr>
          <p:cNvPr id="1171721172" name="TextBox 14"/>
          <p:cNvSpPr txBox="1"/>
          <p:nvPr/>
        </p:nvSpPr>
        <p:spPr bwMode="auto">
          <a:xfrm>
            <a:off x="1097280" y="4754880"/>
            <a:ext cx="9966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12203A"/>
                </a:solidFill>
                <a:latin typeface="Calibri"/>
              </a:rPr>
              <a:t>ПМИ делает проверку воспроизводимой и связывает ТЗ с приёмкой.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90857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7975583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9998460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356368904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Документы эксплуатации пишут для разных ролей</a:t>
            </a:r>
            <a:endParaRPr/>
          </a:p>
        </p:txBody>
      </p:sp>
      <p:sp>
        <p:nvSpPr>
          <p:cNvPr id="1141054181" name="Rounded Rectangle 5"/>
          <p:cNvSpPr/>
          <p:nvPr/>
        </p:nvSpPr>
        <p:spPr bwMode="auto">
          <a:xfrm>
            <a:off x="502920" y="1325880"/>
            <a:ext cx="2697480" cy="214884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959380" name="TextBox 6"/>
          <p:cNvSpPr txBox="1"/>
          <p:nvPr/>
        </p:nvSpPr>
        <p:spPr bwMode="auto">
          <a:xfrm>
            <a:off x="66751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Пользователь</a:t>
            </a:r>
            <a:endParaRPr/>
          </a:p>
        </p:txBody>
      </p:sp>
      <p:sp>
        <p:nvSpPr>
          <p:cNvPr id="1369447674" name="TextBox 7"/>
          <p:cNvSpPr txBox="1"/>
          <p:nvPr/>
        </p:nvSpPr>
        <p:spPr bwMode="auto">
          <a:xfrm>
            <a:off x="667512" y="1874519"/>
            <a:ext cx="2368296" cy="14813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как получить результат</a:t>
            </a:r>
            <a:endParaRPr/>
          </a:p>
        </p:txBody>
      </p:sp>
      <p:sp>
        <p:nvSpPr>
          <p:cNvPr id="2126529052" name="Rounded Rectangle 8"/>
          <p:cNvSpPr/>
          <p:nvPr/>
        </p:nvSpPr>
        <p:spPr bwMode="auto">
          <a:xfrm>
            <a:off x="3337560" y="1325880"/>
            <a:ext cx="2697480" cy="214884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1832729" name="TextBox 9"/>
          <p:cNvSpPr txBox="1"/>
          <p:nvPr/>
        </p:nvSpPr>
        <p:spPr bwMode="auto">
          <a:xfrm>
            <a:off x="350215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Оператор</a:t>
            </a:r>
            <a:endParaRPr/>
          </a:p>
        </p:txBody>
      </p:sp>
      <p:sp>
        <p:nvSpPr>
          <p:cNvPr id="766333213" name="TextBox 10"/>
          <p:cNvSpPr txBox="1"/>
          <p:nvPr/>
        </p:nvSpPr>
        <p:spPr bwMode="auto">
          <a:xfrm>
            <a:off x="3502152" y="1874519"/>
            <a:ext cx="2368296" cy="14813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как выполнить рабочую операцию</a:t>
            </a:r>
            <a:endParaRPr/>
          </a:p>
        </p:txBody>
      </p:sp>
      <p:sp>
        <p:nvSpPr>
          <p:cNvPr id="1313535843" name="Rounded Rectangle 11"/>
          <p:cNvSpPr/>
          <p:nvPr/>
        </p:nvSpPr>
        <p:spPr bwMode="auto">
          <a:xfrm>
            <a:off x="6172200" y="1325880"/>
            <a:ext cx="2697480" cy="214884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123086" name="TextBox 12"/>
          <p:cNvSpPr txBox="1"/>
          <p:nvPr/>
        </p:nvSpPr>
        <p:spPr bwMode="auto">
          <a:xfrm>
            <a:off x="633679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Администратор</a:t>
            </a:r>
            <a:endParaRPr/>
          </a:p>
        </p:txBody>
      </p:sp>
      <p:sp>
        <p:nvSpPr>
          <p:cNvPr id="1250465567" name="TextBox 13"/>
          <p:cNvSpPr txBox="1"/>
          <p:nvPr/>
        </p:nvSpPr>
        <p:spPr bwMode="auto">
          <a:xfrm>
            <a:off x="6336792" y="1874519"/>
            <a:ext cx="2368296" cy="14813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как настроить и восстановить</a:t>
            </a:r>
            <a:endParaRPr/>
          </a:p>
        </p:txBody>
      </p:sp>
      <p:sp>
        <p:nvSpPr>
          <p:cNvPr id="1063209263" name="Rounded Rectangle 14"/>
          <p:cNvSpPr/>
          <p:nvPr/>
        </p:nvSpPr>
        <p:spPr bwMode="auto">
          <a:xfrm>
            <a:off x="9006840" y="1325880"/>
            <a:ext cx="2697480" cy="214884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107586" name="TextBox 15"/>
          <p:cNvSpPr txBox="1"/>
          <p:nvPr/>
        </p:nvSpPr>
        <p:spPr bwMode="auto">
          <a:xfrm>
            <a:off x="917143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Разработчик</a:t>
            </a:r>
            <a:endParaRPr/>
          </a:p>
        </p:txBody>
      </p:sp>
      <p:sp>
        <p:nvSpPr>
          <p:cNvPr id="1954856385" name="TextBox 16"/>
          <p:cNvSpPr txBox="1"/>
          <p:nvPr/>
        </p:nvSpPr>
        <p:spPr bwMode="auto">
          <a:xfrm>
            <a:off x="9171432" y="1874519"/>
            <a:ext cx="2368296" cy="14813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как устроен проект и интерфейсы</a:t>
            </a:r>
            <a:endParaRPr/>
          </a:p>
        </p:txBody>
      </p:sp>
      <p:sp>
        <p:nvSpPr>
          <p:cNvPr id="751760288" name="Rounded Rectangle 17"/>
          <p:cNvSpPr/>
          <p:nvPr/>
        </p:nvSpPr>
        <p:spPr bwMode="auto">
          <a:xfrm>
            <a:off x="914400" y="4069080"/>
            <a:ext cx="10332720" cy="914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601544" name="TextBox 18"/>
          <p:cNvSpPr txBox="1"/>
          <p:nvPr/>
        </p:nvSpPr>
        <p:spPr bwMode="auto">
          <a:xfrm>
            <a:off x="1143000" y="4279392"/>
            <a:ext cx="987552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500" b="1">
                <a:solidFill>
                  <a:srgbClr val="12203A"/>
                </a:solidFill>
                <a:latin typeface="Calibri"/>
              </a:rPr>
              <a:t>ГОСТ 19.505-79 — пример формализованного документа для оператора. Современный аналог задачи может дополняться runbook и online docs.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20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572066" name="Rounded Rectangle 3"/>
          <p:cNvSpPr/>
          <p:nvPr/>
        </p:nvSpPr>
        <p:spPr bwMode="auto">
          <a:xfrm>
            <a:off x="10241280" y="420624"/>
            <a:ext cx="1417320" cy="338328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6088267" name="TextBox 4"/>
          <p:cNvSpPr txBox="1"/>
          <p:nvPr/>
        </p:nvSpPr>
        <p:spPr bwMode="auto">
          <a:xfrm>
            <a:off x="10323576" y="507492"/>
            <a:ext cx="1252728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972163327" name="TextBox 5"/>
          <p:cNvSpPr txBox="1"/>
          <p:nvPr/>
        </p:nvSpPr>
        <p:spPr bwMode="auto">
          <a:xfrm>
            <a:off x="731520" y="1234440"/>
            <a:ext cx="69951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3100" b="1">
                <a:solidFill>
                  <a:srgbClr val="FFFFFF"/>
                </a:solidFill>
                <a:latin typeface="Calibri"/>
              </a:rPr>
              <a:t>Автоматизированная система</a:t>
            </a:r>
            <a:endParaRPr/>
          </a:p>
        </p:txBody>
      </p:sp>
      <p:sp>
        <p:nvSpPr>
          <p:cNvPr id="962226389" name="TextBox 6"/>
          <p:cNvSpPr txBox="1"/>
          <p:nvPr/>
        </p:nvSpPr>
        <p:spPr bwMode="auto">
          <a:xfrm>
            <a:off x="758952" y="2971800"/>
            <a:ext cx="67665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C9D2E3"/>
                </a:solidFill>
                <a:latin typeface="Calibri"/>
              </a:rPr>
              <a:t>Документируем не только программу, но и работу системы в организации</a:t>
            </a:r>
            <a:endParaRPr/>
          </a:p>
        </p:txBody>
      </p:sp>
      <p:sp>
        <p:nvSpPr>
          <p:cNvPr id="1369308822" name="Rounded Rectangle 7"/>
          <p:cNvSpPr/>
          <p:nvPr/>
        </p:nvSpPr>
        <p:spPr bwMode="auto">
          <a:xfrm>
            <a:off x="8321039" y="132588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602415" name="TextBox 8"/>
          <p:cNvSpPr txBox="1"/>
          <p:nvPr/>
        </p:nvSpPr>
        <p:spPr bwMode="auto">
          <a:xfrm>
            <a:off x="8458200" y="146303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34.201</a:t>
            </a:r>
            <a:endParaRPr/>
          </a:p>
        </p:txBody>
      </p:sp>
      <p:sp>
        <p:nvSpPr>
          <p:cNvPr id="2120424228" name="Rounded Rectangle 9"/>
          <p:cNvSpPr/>
          <p:nvPr/>
        </p:nvSpPr>
        <p:spPr bwMode="auto">
          <a:xfrm>
            <a:off x="8321039" y="196596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4105" name="TextBox 10"/>
          <p:cNvSpPr txBox="1"/>
          <p:nvPr/>
        </p:nvSpPr>
        <p:spPr bwMode="auto">
          <a:xfrm>
            <a:off x="8458200" y="2103120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34.602</a:t>
            </a:r>
            <a:endParaRPr/>
          </a:p>
        </p:txBody>
      </p:sp>
      <p:sp>
        <p:nvSpPr>
          <p:cNvPr id="1044150921" name="Rounded Rectangle 11"/>
          <p:cNvSpPr/>
          <p:nvPr/>
        </p:nvSpPr>
        <p:spPr bwMode="auto">
          <a:xfrm>
            <a:off x="8321039" y="2606039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243394" name="TextBox 12"/>
          <p:cNvSpPr txBox="1"/>
          <p:nvPr/>
        </p:nvSpPr>
        <p:spPr bwMode="auto">
          <a:xfrm>
            <a:off x="8458200" y="274319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Р 59792</a:t>
            </a:r>
            <a:endParaRPr/>
          </a:p>
        </p:txBody>
      </p:sp>
      <p:sp>
        <p:nvSpPr>
          <p:cNvPr id="1742836149" name="Rounded Rectangle 13"/>
          <p:cNvSpPr/>
          <p:nvPr/>
        </p:nvSpPr>
        <p:spPr bwMode="auto">
          <a:xfrm>
            <a:off x="8321039" y="324612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2055466" name="TextBox 14"/>
          <p:cNvSpPr txBox="1"/>
          <p:nvPr/>
        </p:nvSpPr>
        <p:spPr bwMode="auto">
          <a:xfrm>
            <a:off x="8458200" y="338327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ГОСТ Р 59793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098240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094896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4201483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779271333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Актуальный набор стандартов на АС</a:t>
            </a:r>
            <a:endParaRPr/>
          </a:p>
        </p:txBody>
      </p:sp>
      <p:sp>
        <p:nvSpPr>
          <p:cNvPr id="1019671797" name="Rounded Rectangle 5"/>
          <p:cNvSpPr/>
          <p:nvPr/>
        </p:nvSpPr>
        <p:spPr bwMode="auto">
          <a:xfrm>
            <a:off x="822960" y="1143000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781273" name="TextBox 6"/>
          <p:cNvSpPr txBox="1"/>
          <p:nvPr/>
        </p:nvSpPr>
        <p:spPr bwMode="auto">
          <a:xfrm>
            <a:off x="987552" y="1307592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34.201-2020</a:t>
            </a:r>
            <a:endParaRPr/>
          </a:p>
        </p:txBody>
      </p:sp>
      <p:sp>
        <p:nvSpPr>
          <p:cNvPr id="297227556" name="TextBox 7"/>
          <p:cNvSpPr txBox="1"/>
          <p:nvPr/>
        </p:nvSpPr>
        <p:spPr bwMode="auto">
          <a:xfrm>
            <a:off x="3383280" y="1261872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виды и комплектность документов</a:t>
            </a:r>
            <a:endParaRPr/>
          </a:p>
        </p:txBody>
      </p:sp>
      <p:sp>
        <p:nvSpPr>
          <p:cNvPr id="161925579" name="Rounded Rectangle 8"/>
          <p:cNvSpPr/>
          <p:nvPr/>
        </p:nvSpPr>
        <p:spPr bwMode="auto">
          <a:xfrm>
            <a:off x="822960" y="1892807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74414" name="TextBox 9"/>
          <p:cNvSpPr txBox="1"/>
          <p:nvPr/>
        </p:nvSpPr>
        <p:spPr bwMode="auto">
          <a:xfrm>
            <a:off x="987552" y="2057400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34.602-2020</a:t>
            </a:r>
            <a:endParaRPr/>
          </a:p>
        </p:txBody>
      </p:sp>
      <p:sp>
        <p:nvSpPr>
          <p:cNvPr id="709829721" name="TextBox 10"/>
          <p:cNvSpPr txBox="1"/>
          <p:nvPr/>
        </p:nvSpPr>
        <p:spPr bwMode="auto">
          <a:xfrm>
            <a:off x="3383280" y="2011679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ТЗ на АС</a:t>
            </a:r>
            <a:endParaRPr/>
          </a:p>
        </p:txBody>
      </p:sp>
      <p:sp>
        <p:nvSpPr>
          <p:cNvPr id="2019423728" name="Rounded Rectangle 11"/>
          <p:cNvSpPr/>
          <p:nvPr/>
        </p:nvSpPr>
        <p:spPr bwMode="auto">
          <a:xfrm>
            <a:off x="822960" y="2642615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960917" name="TextBox 12"/>
          <p:cNvSpPr txBox="1"/>
          <p:nvPr/>
        </p:nvSpPr>
        <p:spPr bwMode="auto">
          <a:xfrm>
            <a:off x="987552" y="2807208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Р 59793-2021</a:t>
            </a:r>
            <a:endParaRPr/>
          </a:p>
        </p:txBody>
      </p:sp>
      <p:sp>
        <p:nvSpPr>
          <p:cNvPr id="1648993549" name="TextBox 13"/>
          <p:cNvSpPr txBox="1"/>
          <p:nvPr/>
        </p:nvSpPr>
        <p:spPr bwMode="auto">
          <a:xfrm>
            <a:off x="3383280" y="2761487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стадии создания</a:t>
            </a:r>
            <a:endParaRPr/>
          </a:p>
        </p:txBody>
      </p:sp>
      <p:sp>
        <p:nvSpPr>
          <p:cNvPr id="1853335714" name="Rounded Rectangle 14"/>
          <p:cNvSpPr/>
          <p:nvPr/>
        </p:nvSpPr>
        <p:spPr bwMode="auto">
          <a:xfrm>
            <a:off x="822960" y="3392423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3671896" name="TextBox 15"/>
          <p:cNvSpPr txBox="1"/>
          <p:nvPr/>
        </p:nvSpPr>
        <p:spPr bwMode="auto">
          <a:xfrm>
            <a:off x="987552" y="3557015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Р 59792-2021</a:t>
            </a:r>
            <a:endParaRPr/>
          </a:p>
        </p:txBody>
      </p:sp>
      <p:sp>
        <p:nvSpPr>
          <p:cNvPr id="560118767" name="TextBox 16"/>
          <p:cNvSpPr txBox="1"/>
          <p:nvPr/>
        </p:nvSpPr>
        <p:spPr bwMode="auto">
          <a:xfrm>
            <a:off x="3383280" y="3511295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виды испытаний</a:t>
            </a:r>
            <a:endParaRPr/>
          </a:p>
        </p:txBody>
      </p:sp>
      <p:sp>
        <p:nvSpPr>
          <p:cNvPr id="785155687" name="Rounded Rectangle 17"/>
          <p:cNvSpPr/>
          <p:nvPr/>
        </p:nvSpPr>
        <p:spPr bwMode="auto">
          <a:xfrm>
            <a:off x="822960" y="4142231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976340" name="TextBox 18"/>
          <p:cNvSpPr txBox="1"/>
          <p:nvPr/>
        </p:nvSpPr>
        <p:spPr bwMode="auto">
          <a:xfrm>
            <a:off x="987552" y="4306823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Р 59795-2021</a:t>
            </a:r>
            <a:endParaRPr/>
          </a:p>
        </p:txBody>
      </p:sp>
      <p:sp>
        <p:nvSpPr>
          <p:cNvPr id="821290682" name="TextBox 19"/>
          <p:cNvSpPr txBox="1"/>
          <p:nvPr/>
        </p:nvSpPr>
        <p:spPr bwMode="auto">
          <a:xfrm>
            <a:off x="3383280" y="4261103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содержание документов</a:t>
            </a:r>
            <a:endParaRPr/>
          </a:p>
        </p:txBody>
      </p:sp>
      <p:sp>
        <p:nvSpPr>
          <p:cNvPr id="506134389" name="Rounded Rectangle 20"/>
          <p:cNvSpPr/>
          <p:nvPr/>
        </p:nvSpPr>
        <p:spPr bwMode="auto">
          <a:xfrm>
            <a:off x="822960" y="4892039"/>
            <a:ext cx="228600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914638" name="TextBox 21"/>
          <p:cNvSpPr txBox="1"/>
          <p:nvPr/>
        </p:nvSpPr>
        <p:spPr bwMode="auto">
          <a:xfrm>
            <a:off x="987552" y="5056631"/>
            <a:ext cx="1965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Р 59853-2021</a:t>
            </a:r>
            <a:endParaRPr/>
          </a:p>
        </p:txBody>
      </p:sp>
      <p:sp>
        <p:nvSpPr>
          <p:cNvPr id="1186465021" name="TextBox 22"/>
          <p:cNvSpPr txBox="1"/>
          <p:nvPr/>
        </p:nvSpPr>
        <p:spPr bwMode="auto">
          <a:xfrm>
            <a:off x="3383280" y="5010912"/>
            <a:ext cx="74066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термины и определения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207844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018788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7279582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53606077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Подводный камень: старые статьи в интернете</a:t>
            </a:r>
            <a:endParaRPr/>
          </a:p>
        </p:txBody>
      </p:sp>
      <p:sp>
        <p:nvSpPr>
          <p:cNvPr id="1446459738" name="Rounded Rectangle 5"/>
          <p:cNvSpPr/>
          <p:nvPr/>
        </p:nvSpPr>
        <p:spPr bwMode="auto">
          <a:xfrm>
            <a:off x="731520" y="1234440"/>
            <a:ext cx="4937760" cy="283464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0326804" name="TextBox 6"/>
          <p:cNvSpPr txBox="1"/>
          <p:nvPr/>
        </p:nvSpPr>
        <p:spPr bwMode="auto">
          <a:xfrm>
            <a:off x="896112" y="1389888"/>
            <a:ext cx="46085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УСТАРЕВШИЙ ОРИЕНТИР</a:t>
            </a:r>
            <a:endParaRPr/>
          </a:p>
        </p:txBody>
      </p:sp>
      <p:sp>
        <p:nvSpPr>
          <p:cNvPr id="1999342898" name="TextBox 7"/>
          <p:cNvSpPr txBox="1"/>
          <p:nvPr/>
        </p:nvSpPr>
        <p:spPr bwMode="auto">
          <a:xfrm>
            <a:off x="896112" y="1783080"/>
            <a:ext cx="4608576" cy="21671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ГОСТ 34.601-90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«Стадии создания АС»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Утратил силу в РФ.</a:t>
            </a:r>
            <a:endParaRPr/>
          </a:p>
        </p:txBody>
      </p:sp>
      <p:sp>
        <p:nvSpPr>
          <p:cNvPr id="1750342548" name="Rounded Rectangle 8"/>
          <p:cNvSpPr/>
          <p:nvPr/>
        </p:nvSpPr>
        <p:spPr bwMode="auto">
          <a:xfrm>
            <a:off x="6492240" y="1234440"/>
            <a:ext cx="4937760" cy="2834640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12700">
            <a:solidFill>
              <a:srgbClr val="57B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974051" name="TextBox 9"/>
          <p:cNvSpPr txBox="1"/>
          <p:nvPr/>
        </p:nvSpPr>
        <p:spPr bwMode="auto">
          <a:xfrm>
            <a:off x="6656831" y="1389888"/>
            <a:ext cx="46085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АКТУАЛЬНЫЙ ОРИЕНТИР</a:t>
            </a:r>
            <a:endParaRPr/>
          </a:p>
        </p:txBody>
      </p:sp>
      <p:sp>
        <p:nvSpPr>
          <p:cNvPr id="1378948925" name="TextBox 10"/>
          <p:cNvSpPr txBox="1"/>
          <p:nvPr/>
        </p:nvSpPr>
        <p:spPr bwMode="auto">
          <a:xfrm>
            <a:off x="6656831" y="1783080"/>
            <a:ext cx="4608576" cy="21671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ГОСТ Р 59793-2021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«Автоматизированные системы. Стадии создания»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Действует.</a:t>
            </a:r>
            <a:endParaRPr/>
          </a:p>
        </p:txBody>
      </p:sp>
      <p:sp>
        <p:nvSpPr>
          <p:cNvPr id="1318857859" name="TextBox 11"/>
          <p:cNvSpPr txBox="1"/>
          <p:nvPr/>
        </p:nvSpPr>
        <p:spPr bwMode="auto">
          <a:xfrm>
            <a:off x="914400" y="4526280"/>
            <a:ext cx="10332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650" b="1">
                <a:solidFill>
                  <a:srgbClr val="12203A"/>
                </a:solidFill>
                <a:latin typeface="Calibri"/>
              </a:rPr>
              <a:t>Название стандарта в старой статье ≠ доказательство его актуальности. Проверяем карточку Росстандарта.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98159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47892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319542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2020452003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ТЗ на программу и ТЗ на АС — разная ширина</a:t>
            </a:r>
            <a:endParaRPr/>
          </a:p>
        </p:txBody>
      </p:sp>
      <p:sp>
        <p:nvSpPr>
          <p:cNvPr id="1691146134" name="Rounded Rectangle 5"/>
          <p:cNvSpPr/>
          <p:nvPr/>
        </p:nvSpPr>
        <p:spPr bwMode="auto">
          <a:xfrm>
            <a:off x="731520" y="1188720"/>
            <a:ext cx="4937760" cy="33375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387772" name="TextBox 6"/>
          <p:cNvSpPr txBox="1"/>
          <p:nvPr/>
        </p:nvSpPr>
        <p:spPr bwMode="auto">
          <a:xfrm>
            <a:off x="896112" y="1344168"/>
            <a:ext cx="46085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ТЗ НА ПРОГРАММУ</a:t>
            </a:r>
            <a:endParaRPr/>
          </a:p>
        </p:txBody>
      </p:sp>
      <p:sp>
        <p:nvSpPr>
          <p:cNvPr id="2071986547" name="TextBox 7"/>
          <p:cNvSpPr txBox="1"/>
          <p:nvPr/>
        </p:nvSpPr>
        <p:spPr bwMode="auto">
          <a:xfrm>
            <a:off x="896112" y="1737360"/>
            <a:ext cx="460857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Функции ПО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Входные/выходные данные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Требования к программе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Документация программы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Испытания программы</a:t>
            </a:r>
            <a:endParaRPr/>
          </a:p>
        </p:txBody>
      </p:sp>
      <p:sp>
        <p:nvSpPr>
          <p:cNvPr id="1815630328" name="Rounded Rectangle 8"/>
          <p:cNvSpPr/>
          <p:nvPr/>
        </p:nvSpPr>
        <p:spPr bwMode="auto">
          <a:xfrm>
            <a:off x="6492240" y="1188720"/>
            <a:ext cx="4937760" cy="33375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933155" name="TextBox 9"/>
          <p:cNvSpPr txBox="1"/>
          <p:nvPr/>
        </p:nvSpPr>
        <p:spPr bwMode="auto">
          <a:xfrm>
            <a:off x="6656831" y="1344168"/>
            <a:ext cx="46085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ТЗ НА АС</a:t>
            </a:r>
            <a:endParaRPr/>
          </a:p>
        </p:txBody>
      </p:sp>
      <p:sp>
        <p:nvSpPr>
          <p:cNvPr id="720780429" name="TextBox 10"/>
          <p:cNvSpPr txBox="1"/>
          <p:nvPr/>
        </p:nvSpPr>
        <p:spPr bwMode="auto">
          <a:xfrm>
            <a:off x="6656831" y="1737360"/>
            <a:ext cx="4608576" cy="2670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263241"/>
                </a:solidFill>
                <a:latin typeface="Calibri"/>
              </a:rPr>
              <a:t>Цели автоматизации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ПО + инфраструктура + интеграции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Персонал и эксплуатация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Подготовка объекта</a:t>
            </a:r>
            <a:br>
              <a:rPr sz="1600" b="0">
                <a:solidFill>
                  <a:srgbClr val="263241"/>
                </a:solidFill>
                <a:latin typeface="Calibri"/>
              </a:rPr>
            </a:br>
            <a:r>
              <a:rPr sz="1600" b="0">
                <a:solidFill>
                  <a:srgbClr val="263241"/>
                </a:solidFill>
                <a:latin typeface="Calibri"/>
              </a:rPr>
              <a:t>Ввод и системная приёмка</a:t>
            </a:r>
            <a:endParaRPr/>
          </a:p>
        </p:txBody>
      </p:sp>
      <p:sp>
        <p:nvSpPr>
          <p:cNvPr id="1746132801" name="TextBox 11"/>
          <p:cNvSpPr txBox="1"/>
          <p:nvPr/>
        </p:nvSpPr>
        <p:spPr bwMode="auto">
          <a:xfrm>
            <a:off x="1097280" y="4892039"/>
            <a:ext cx="9966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650" b="1">
                <a:solidFill>
                  <a:srgbClr val="12203A"/>
                </a:solidFill>
                <a:latin typeface="Calibri"/>
              </a:rPr>
              <a:t>Конкретный проект сам определяет нужный комплект через требования, ТЗ и договор.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211404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6163592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4287933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09182251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CampusDesk: программа работает — система ещё может быть не готова</a:t>
            </a:r>
            <a:endParaRPr/>
          </a:p>
        </p:txBody>
      </p:sp>
      <p:sp>
        <p:nvSpPr>
          <p:cNvPr id="548927602" name="Rounded Rectangle 5"/>
          <p:cNvSpPr/>
          <p:nvPr/>
        </p:nvSpPr>
        <p:spPr bwMode="auto">
          <a:xfrm>
            <a:off x="502920" y="1325880"/>
            <a:ext cx="2697480" cy="20116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8101455" name="TextBox 6"/>
          <p:cNvSpPr txBox="1"/>
          <p:nvPr/>
        </p:nvSpPr>
        <p:spPr bwMode="auto">
          <a:xfrm>
            <a:off x="66751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SSO</a:t>
            </a:r>
            <a:endParaRPr/>
          </a:p>
        </p:txBody>
      </p:sp>
      <p:sp>
        <p:nvSpPr>
          <p:cNvPr id="279400578" name="TextBox 7"/>
          <p:cNvSpPr txBox="1"/>
          <p:nvPr/>
        </p:nvSpPr>
        <p:spPr bwMode="auto">
          <a:xfrm>
            <a:off x="667512" y="1874519"/>
            <a:ext cx="2368296" cy="1344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подключён?</a:t>
            </a:r>
            <a:endParaRPr/>
          </a:p>
        </p:txBody>
      </p:sp>
      <p:sp>
        <p:nvSpPr>
          <p:cNvPr id="2131465568" name="Rounded Rectangle 8"/>
          <p:cNvSpPr/>
          <p:nvPr/>
        </p:nvSpPr>
        <p:spPr bwMode="auto">
          <a:xfrm>
            <a:off x="3337560" y="1325880"/>
            <a:ext cx="2697480" cy="201168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121813" name="TextBox 9"/>
          <p:cNvSpPr txBox="1"/>
          <p:nvPr/>
        </p:nvSpPr>
        <p:spPr bwMode="auto">
          <a:xfrm>
            <a:off x="350215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Резервные копии</a:t>
            </a:r>
            <a:endParaRPr/>
          </a:p>
        </p:txBody>
      </p:sp>
      <p:sp>
        <p:nvSpPr>
          <p:cNvPr id="859785720" name="TextBox 10"/>
          <p:cNvSpPr txBox="1"/>
          <p:nvPr/>
        </p:nvSpPr>
        <p:spPr bwMode="auto">
          <a:xfrm>
            <a:off x="3502152" y="1874519"/>
            <a:ext cx="2368296" cy="1344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восстановление проверено?</a:t>
            </a:r>
            <a:endParaRPr/>
          </a:p>
        </p:txBody>
      </p:sp>
      <p:sp>
        <p:nvSpPr>
          <p:cNvPr id="1094555261" name="Rounded Rectangle 11"/>
          <p:cNvSpPr/>
          <p:nvPr/>
        </p:nvSpPr>
        <p:spPr bwMode="auto">
          <a:xfrm>
            <a:off x="6172200" y="1325880"/>
            <a:ext cx="2697480" cy="201168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8071205" name="TextBox 12"/>
          <p:cNvSpPr txBox="1"/>
          <p:nvPr/>
        </p:nvSpPr>
        <p:spPr bwMode="auto">
          <a:xfrm>
            <a:off x="633679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Почта</a:t>
            </a:r>
            <a:endParaRPr/>
          </a:p>
        </p:txBody>
      </p:sp>
      <p:sp>
        <p:nvSpPr>
          <p:cNvPr id="2001169878" name="TextBox 13"/>
          <p:cNvSpPr txBox="1"/>
          <p:nvPr/>
        </p:nvSpPr>
        <p:spPr bwMode="auto">
          <a:xfrm>
            <a:off x="6336792" y="1874519"/>
            <a:ext cx="2368296" cy="1344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уведомления доставляются?</a:t>
            </a:r>
            <a:endParaRPr/>
          </a:p>
        </p:txBody>
      </p:sp>
      <p:sp>
        <p:nvSpPr>
          <p:cNvPr id="235604983" name="Rounded Rectangle 14"/>
          <p:cNvSpPr/>
          <p:nvPr/>
        </p:nvSpPr>
        <p:spPr bwMode="auto">
          <a:xfrm>
            <a:off x="9006840" y="1325880"/>
            <a:ext cx="2697480" cy="201168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348919" name="TextBox 15"/>
          <p:cNvSpPr txBox="1"/>
          <p:nvPr/>
        </p:nvSpPr>
        <p:spPr bwMode="auto">
          <a:xfrm>
            <a:off x="9171432" y="1481328"/>
            <a:ext cx="23682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Операторы</a:t>
            </a:r>
            <a:endParaRPr/>
          </a:p>
        </p:txBody>
      </p:sp>
      <p:sp>
        <p:nvSpPr>
          <p:cNvPr id="398190824" name="TextBox 16"/>
          <p:cNvSpPr txBox="1"/>
          <p:nvPr/>
        </p:nvSpPr>
        <p:spPr bwMode="auto">
          <a:xfrm>
            <a:off x="9171432" y="1874519"/>
            <a:ext cx="2368296" cy="1344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263241"/>
                </a:solidFill>
                <a:latin typeface="Calibri"/>
              </a:rPr>
              <a:t>обучены и назначены?</a:t>
            </a:r>
            <a:endParaRPr/>
          </a:p>
        </p:txBody>
      </p:sp>
      <p:sp>
        <p:nvSpPr>
          <p:cNvPr id="816333437" name="Rounded Rectangle 17"/>
          <p:cNvSpPr/>
          <p:nvPr/>
        </p:nvSpPr>
        <p:spPr bwMode="auto">
          <a:xfrm>
            <a:off x="1005840" y="3977639"/>
            <a:ext cx="10149840" cy="91440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141495" name="TextBox 18"/>
          <p:cNvSpPr txBox="1"/>
          <p:nvPr/>
        </p:nvSpPr>
        <p:spPr bwMode="auto">
          <a:xfrm>
            <a:off x="1234440" y="4242816"/>
            <a:ext cx="969264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«Приложение успешно запускается» — ещё не равно «АС готова к работе в организации».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20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689167" name="Rounded Rectangle 3"/>
          <p:cNvSpPr/>
          <p:nvPr/>
        </p:nvSpPr>
        <p:spPr bwMode="auto">
          <a:xfrm>
            <a:off x="10241280" y="420624"/>
            <a:ext cx="1417320" cy="338328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762251" name="TextBox 4"/>
          <p:cNvSpPr txBox="1"/>
          <p:nvPr/>
        </p:nvSpPr>
        <p:spPr bwMode="auto">
          <a:xfrm>
            <a:off x="10323576" y="507492"/>
            <a:ext cx="1252728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34265547" name="TextBox 5"/>
          <p:cNvSpPr txBox="1"/>
          <p:nvPr/>
        </p:nvSpPr>
        <p:spPr bwMode="auto">
          <a:xfrm>
            <a:off x="731520" y="1234440"/>
            <a:ext cx="69951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3100" b="1">
                <a:solidFill>
                  <a:srgbClr val="FFFFFF"/>
                </a:solidFill>
                <a:latin typeface="Calibri"/>
              </a:rPr>
              <a:t>Современная документация</a:t>
            </a:r>
            <a:endParaRPr/>
          </a:p>
        </p:txBody>
      </p:sp>
      <p:sp>
        <p:nvSpPr>
          <p:cNvPr id="714668012" name="TextBox 6"/>
          <p:cNvSpPr txBox="1"/>
          <p:nvPr/>
        </p:nvSpPr>
        <p:spPr bwMode="auto">
          <a:xfrm>
            <a:off x="758952" y="2971800"/>
            <a:ext cx="67665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C9D2E3"/>
                </a:solidFill>
                <a:latin typeface="Calibri"/>
              </a:rPr>
              <a:t>Форма меняется, инженерная задача остаётся</a:t>
            </a:r>
            <a:endParaRPr/>
          </a:p>
        </p:txBody>
      </p:sp>
      <p:sp>
        <p:nvSpPr>
          <p:cNvPr id="82906148" name="Rounded Rectangle 7"/>
          <p:cNvSpPr/>
          <p:nvPr/>
        </p:nvSpPr>
        <p:spPr bwMode="auto">
          <a:xfrm>
            <a:off x="8321039" y="132588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7371485" name="TextBox 8"/>
          <p:cNvSpPr txBox="1"/>
          <p:nvPr/>
        </p:nvSpPr>
        <p:spPr bwMode="auto">
          <a:xfrm>
            <a:off x="8458200" y="146303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README</a:t>
            </a:r>
            <a:endParaRPr/>
          </a:p>
        </p:txBody>
      </p:sp>
      <p:sp>
        <p:nvSpPr>
          <p:cNvPr id="1979101096" name="Rounded Rectangle 9"/>
          <p:cNvSpPr/>
          <p:nvPr/>
        </p:nvSpPr>
        <p:spPr bwMode="auto">
          <a:xfrm>
            <a:off x="8321039" y="196596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691145" name="TextBox 10"/>
          <p:cNvSpPr txBox="1"/>
          <p:nvPr/>
        </p:nvSpPr>
        <p:spPr bwMode="auto">
          <a:xfrm>
            <a:off x="8458200" y="2103120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OpenAPI</a:t>
            </a:r>
            <a:endParaRPr/>
          </a:p>
        </p:txBody>
      </p:sp>
      <p:sp>
        <p:nvSpPr>
          <p:cNvPr id="1311122152" name="Rounded Rectangle 11"/>
          <p:cNvSpPr/>
          <p:nvPr/>
        </p:nvSpPr>
        <p:spPr bwMode="auto">
          <a:xfrm>
            <a:off x="8321039" y="2606039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712730" name="TextBox 12"/>
          <p:cNvSpPr txBox="1"/>
          <p:nvPr/>
        </p:nvSpPr>
        <p:spPr bwMode="auto">
          <a:xfrm>
            <a:off x="8458200" y="274319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ADR</a:t>
            </a:r>
            <a:endParaRPr/>
          </a:p>
        </p:txBody>
      </p:sp>
      <p:sp>
        <p:nvSpPr>
          <p:cNvPr id="1096548149" name="Rounded Rectangle 13"/>
          <p:cNvSpPr/>
          <p:nvPr/>
        </p:nvSpPr>
        <p:spPr bwMode="auto">
          <a:xfrm>
            <a:off x="8321039" y="324612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8910317" name="TextBox 14"/>
          <p:cNvSpPr txBox="1"/>
          <p:nvPr/>
        </p:nvSpPr>
        <p:spPr bwMode="auto">
          <a:xfrm>
            <a:off x="8458200" y="3383279"/>
            <a:ext cx="21945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50" b="1">
                <a:solidFill>
                  <a:srgbClr val="12203A"/>
                </a:solidFill>
                <a:latin typeface="Calibri"/>
              </a:rPr>
              <a:t>Runbook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83081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533591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7943680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540159035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Современный взгляд: документация как информация жизненного цикла</a:t>
            </a:r>
            <a:endParaRPr/>
          </a:p>
        </p:txBody>
      </p:sp>
      <p:sp>
        <p:nvSpPr>
          <p:cNvPr id="757063825" name="Rounded Rectangle 5"/>
          <p:cNvSpPr/>
          <p:nvPr/>
        </p:nvSpPr>
        <p:spPr bwMode="auto">
          <a:xfrm>
            <a:off x="594360" y="1188720"/>
            <a:ext cx="3566160" cy="31089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573484" name="TextBox 6"/>
          <p:cNvSpPr txBox="1"/>
          <p:nvPr/>
        </p:nvSpPr>
        <p:spPr bwMode="auto">
          <a:xfrm>
            <a:off x="758952" y="1344168"/>
            <a:ext cx="32369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ISO/IEC/IEEE 12207:2026</a:t>
            </a:r>
            <a:endParaRPr/>
          </a:p>
        </p:txBody>
      </p:sp>
      <p:sp>
        <p:nvSpPr>
          <p:cNvPr id="78336435" name="TextBox 7"/>
          <p:cNvSpPr txBox="1"/>
          <p:nvPr/>
        </p:nvSpPr>
        <p:spPr bwMode="auto">
          <a:xfrm>
            <a:off x="758952" y="1737360"/>
            <a:ext cx="3236976" cy="2441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Процессы жизненного цикла ПО: разработка, эксплуатация, сопровождение и др.</a:t>
            </a:r>
            <a:endParaRPr/>
          </a:p>
        </p:txBody>
      </p:sp>
      <p:sp>
        <p:nvSpPr>
          <p:cNvPr id="1695725281" name="Rounded Rectangle 8"/>
          <p:cNvSpPr/>
          <p:nvPr/>
        </p:nvSpPr>
        <p:spPr bwMode="auto">
          <a:xfrm>
            <a:off x="4315968" y="1188720"/>
            <a:ext cx="3566160" cy="310896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991743" name="TextBox 9"/>
          <p:cNvSpPr txBox="1"/>
          <p:nvPr/>
        </p:nvSpPr>
        <p:spPr bwMode="auto">
          <a:xfrm>
            <a:off x="4480559" y="1344168"/>
            <a:ext cx="32369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15289 / ГОСТ Р 58609</a:t>
            </a:r>
            <a:endParaRPr/>
          </a:p>
        </p:txBody>
      </p:sp>
      <p:sp>
        <p:nvSpPr>
          <p:cNvPr id="1310525639" name="TextBox 10"/>
          <p:cNvSpPr txBox="1"/>
          <p:nvPr/>
        </p:nvSpPr>
        <p:spPr bwMode="auto">
          <a:xfrm>
            <a:off x="4480559" y="1737360"/>
            <a:ext cx="3236976" cy="2441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Какие информационные элементы нужны процессам жизненного цикла.</a:t>
            </a:r>
            <a:endParaRPr/>
          </a:p>
        </p:txBody>
      </p:sp>
      <p:sp>
        <p:nvSpPr>
          <p:cNvPr id="886361094" name="Rounded Rectangle 11"/>
          <p:cNvSpPr/>
          <p:nvPr/>
        </p:nvSpPr>
        <p:spPr bwMode="auto">
          <a:xfrm>
            <a:off x="8046720" y="1188720"/>
            <a:ext cx="3566160" cy="310896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3838856" name="TextBox 12"/>
          <p:cNvSpPr txBox="1"/>
          <p:nvPr/>
        </p:nvSpPr>
        <p:spPr bwMode="auto">
          <a:xfrm>
            <a:off x="8211312" y="1344168"/>
            <a:ext cx="323697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ISO/IEC/IEEE 29148</a:t>
            </a:r>
            <a:endParaRPr/>
          </a:p>
        </p:txBody>
      </p:sp>
      <p:sp>
        <p:nvSpPr>
          <p:cNvPr id="602803885" name="TextBox 13"/>
          <p:cNvSpPr txBox="1"/>
          <p:nvPr/>
        </p:nvSpPr>
        <p:spPr bwMode="auto">
          <a:xfrm>
            <a:off x="8211312" y="1737360"/>
            <a:ext cx="3236976" cy="2441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Инженерия требований: выявление, оформление и управление требованиями.</a:t>
            </a:r>
            <a:endParaRPr/>
          </a:p>
        </p:txBody>
      </p:sp>
      <p:sp>
        <p:nvSpPr>
          <p:cNvPr id="1780547331" name="TextBox 14"/>
          <p:cNvSpPr txBox="1"/>
          <p:nvPr/>
        </p:nvSpPr>
        <p:spPr bwMode="auto">
          <a:xfrm>
            <a:off x="1051560" y="4663440"/>
            <a:ext cx="1005840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50" b="1">
                <a:solidFill>
                  <a:srgbClr val="12203A"/>
                </a:solidFill>
                <a:latin typeface="Calibri"/>
              </a:rPr>
              <a:t>Сначала спрашиваем «какая информация нужна?», потом выбираем форму документа.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638206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051696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0545222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2068120105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Agile не означает «документации нет»</a:t>
            </a:r>
            <a:endParaRPr/>
          </a:p>
        </p:txBody>
      </p:sp>
      <p:sp>
        <p:nvSpPr>
          <p:cNvPr id="2147373347" name="Rounded Rectangle 5"/>
          <p:cNvSpPr/>
          <p:nvPr/>
        </p:nvSpPr>
        <p:spPr bwMode="auto">
          <a:xfrm>
            <a:off x="640080" y="1143000"/>
            <a:ext cx="3429000" cy="320040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94897" name="TextBox 6"/>
          <p:cNvSpPr txBox="1"/>
          <p:nvPr/>
        </p:nvSpPr>
        <p:spPr bwMode="auto">
          <a:xfrm>
            <a:off x="804671" y="129844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BACKLOG</a:t>
            </a:r>
            <a:endParaRPr/>
          </a:p>
        </p:txBody>
      </p:sp>
      <p:sp>
        <p:nvSpPr>
          <p:cNvPr id="892140623" name="TextBox 7"/>
          <p:cNvSpPr txBox="1"/>
          <p:nvPr/>
        </p:nvSpPr>
        <p:spPr bwMode="auto">
          <a:xfrm>
            <a:off x="804671" y="1691640"/>
            <a:ext cx="309981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User Story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Acceptance Criteria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Definition of Done</a:t>
            </a:r>
            <a:endParaRPr/>
          </a:p>
        </p:txBody>
      </p:sp>
      <p:sp>
        <p:nvSpPr>
          <p:cNvPr id="1473137203" name="Rounded Rectangle 8"/>
          <p:cNvSpPr/>
          <p:nvPr/>
        </p:nvSpPr>
        <p:spPr bwMode="auto">
          <a:xfrm>
            <a:off x="4370832" y="1143000"/>
            <a:ext cx="3429000" cy="320040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637179" name="TextBox 9"/>
          <p:cNvSpPr txBox="1"/>
          <p:nvPr/>
        </p:nvSpPr>
        <p:spPr bwMode="auto">
          <a:xfrm>
            <a:off x="4535424" y="129844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ENGINEERING DOCS</a:t>
            </a:r>
            <a:endParaRPr/>
          </a:p>
        </p:txBody>
      </p:sp>
      <p:sp>
        <p:nvSpPr>
          <p:cNvPr id="1077847339" name="TextBox 10"/>
          <p:cNvSpPr txBox="1"/>
          <p:nvPr/>
        </p:nvSpPr>
        <p:spPr bwMode="auto">
          <a:xfrm>
            <a:off x="4535424" y="1691640"/>
            <a:ext cx="309981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API contracts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ADR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Diagrams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Test reports</a:t>
            </a:r>
            <a:endParaRPr/>
          </a:p>
        </p:txBody>
      </p:sp>
      <p:sp>
        <p:nvSpPr>
          <p:cNvPr id="597536719" name="Rounded Rectangle 11"/>
          <p:cNvSpPr/>
          <p:nvPr/>
        </p:nvSpPr>
        <p:spPr bwMode="auto">
          <a:xfrm>
            <a:off x="8092440" y="1143000"/>
            <a:ext cx="3429000" cy="320040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4698391" name="TextBox 12"/>
          <p:cNvSpPr txBox="1"/>
          <p:nvPr/>
        </p:nvSpPr>
        <p:spPr bwMode="auto">
          <a:xfrm>
            <a:off x="8257031" y="129844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OPERATIONS</a:t>
            </a:r>
            <a:endParaRPr/>
          </a:p>
        </p:txBody>
      </p:sp>
      <p:sp>
        <p:nvSpPr>
          <p:cNvPr id="351728096" name="TextBox 13"/>
          <p:cNvSpPr txBox="1"/>
          <p:nvPr/>
        </p:nvSpPr>
        <p:spPr bwMode="auto">
          <a:xfrm>
            <a:off x="8257031" y="1691640"/>
            <a:ext cx="3099816" cy="2532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README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Runbook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Release Notes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Monitoring docs</a:t>
            </a:r>
            <a:endParaRPr/>
          </a:p>
        </p:txBody>
      </p:sp>
      <p:sp>
        <p:nvSpPr>
          <p:cNvPr id="1551447618" name="TextBox 14"/>
          <p:cNvSpPr txBox="1"/>
          <p:nvPr/>
        </p:nvSpPr>
        <p:spPr bwMode="auto">
          <a:xfrm>
            <a:off x="1005840" y="4736592"/>
            <a:ext cx="102412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650" b="1">
                <a:solidFill>
                  <a:srgbClr val="12203A"/>
                </a:solidFill>
                <a:latin typeface="Calibri"/>
              </a:rPr>
              <a:t>В регулируемом или контрактном проекте поверх этого могут существовать формальные ТЗ и ПМИ.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56843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82502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148435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280547441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README и OpenAPI закрывают разные вопросы</a:t>
            </a:r>
            <a:endParaRPr/>
          </a:p>
        </p:txBody>
      </p:sp>
      <p:sp>
        <p:nvSpPr>
          <p:cNvPr id="587808380" name="Rounded Rectangle 5"/>
          <p:cNvSpPr/>
          <p:nvPr/>
        </p:nvSpPr>
        <p:spPr bwMode="auto">
          <a:xfrm>
            <a:off x="640080" y="1188720"/>
            <a:ext cx="5257800" cy="324612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8257384" name="TextBox 6"/>
          <p:cNvSpPr txBox="1"/>
          <p:nvPr/>
        </p:nvSpPr>
        <p:spPr bwMode="auto">
          <a:xfrm>
            <a:off x="804671" y="1344168"/>
            <a:ext cx="49286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README</a:t>
            </a:r>
            <a:endParaRPr/>
          </a:p>
        </p:txBody>
      </p:sp>
      <p:sp>
        <p:nvSpPr>
          <p:cNvPr id="2016613561" name="TextBox 7"/>
          <p:cNvSpPr txBox="1"/>
          <p:nvPr/>
        </p:nvSpPr>
        <p:spPr bwMode="auto">
          <a:xfrm>
            <a:off x="804671" y="1737360"/>
            <a:ext cx="4928616" cy="2578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Что это за проект?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 запустить?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Какие зависимости?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Где тесты?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Куда идти за документацией?</a:t>
            </a:r>
            <a:endParaRPr/>
          </a:p>
        </p:txBody>
      </p:sp>
      <p:sp>
        <p:nvSpPr>
          <p:cNvPr id="1180891811" name="Rounded Rectangle 8"/>
          <p:cNvSpPr/>
          <p:nvPr/>
        </p:nvSpPr>
        <p:spPr bwMode="auto">
          <a:xfrm>
            <a:off x="6263640" y="1188720"/>
            <a:ext cx="5257800" cy="324612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75649" name="TextBox 9"/>
          <p:cNvSpPr txBox="1"/>
          <p:nvPr/>
        </p:nvSpPr>
        <p:spPr bwMode="auto">
          <a:xfrm>
            <a:off x="6428231" y="1344168"/>
            <a:ext cx="49286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OpenAPI</a:t>
            </a:r>
            <a:endParaRPr/>
          </a:p>
        </p:txBody>
      </p:sp>
      <p:sp>
        <p:nvSpPr>
          <p:cNvPr id="572394835" name="TextBox 10"/>
          <p:cNvSpPr txBox="1"/>
          <p:nvPr/>
        </p:nvSpPr>
        <p:spPr bwMode="auto">
          <a:xfrm>
            <a:off x="6428231" y="1737360"/>
            <a:ext cx="4928616" cy="2578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Как выглядит HTTP API?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Endpoints • параметры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Schemas • responses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Security schemes</a:t>
            </a:r>
            <a:endParaRPr/>
          </a:p>
        </p:txBody>
      </p:sp>
      <p:sp>
        <p:nvSpPr>
          <p:cNvPr id="1278148979" name="TextBox 11"/>
          <p:cNvSpPr txBox="1"/>
          <p:nvPr/>
        </p:nvSpPr>
        <p:spPr bwMode="auto">
          <a:xfrm>
            <a:off x="960120" y="4709160"/>
            <a:ext cx="1033272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2203A"/>
                </a:solidFill>
                <a:latin typeface="Calibri"/>
              </a:rPr>
              <a:t>OpenAPI — спецификация/описание. Swagger UI — один из инструментов визуализации.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396763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682902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225001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410074972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ADR, Runbook и Changelog — три разных вида знания</a:t>
            </a:r>
            <a:endParaRPr/>
          </a:p>
        </p:txBody>
      </p:sp>
      <p:sp>
        <p:nvSpPr>
          <p:cNvPr id="2000059172" name="Rounded Rectangle 5"/>
          <p:cNvSpPr/>
          <p:nvPr/>
        </p:nvSpPr>
        <p:spPr bwMode="auto">
          <a:xfrm>
            <a:off x="640080" y="1234440"/>
            <a:ext cx="3429000" cy="31546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3293215" name="TextBox 6"/>
          <p:cNvSpPr txBox="1"/>
          <p:nvPr/>
        </p:nvSpPr>
        <p:spPr bwMode="auto">
          <a:xfrm>
            <a:off x="804671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ADR</a:t>
            </a:r>
            <a:endParaRPr/>
          </a:p>
        </p:txBody>
      </p:sp>
      <p:sp>
        <p:nvSpPr>
          <p:cNvPr id="331361953" name="TextBox 7"/>
          <p:cNvSpPr txBox="1"/>
          <p:nvPr/>
        </p:nvSpPr>
        <p:spPr bwMode="auto">
          <a:xfrm>
            <a:off x="804671" y="1783080"/>
            <a:ext cx="3099816" cy="2487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Почему выбрали S3, а не локальный диск?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Контекст → решение → альтернативы → последствия</a:t>
            </a:r>
            <a:endParaRPr/>
          </a:p>
        </p:txBody>
      </p:sp>
      <p:sp>
        <p:nvSpPr>
          <p:cNvPr id="633220993" name="Rounded Rectangle 8"/>
          <p:cNvSpPr/>
          <p:nvPr/>
        </p:nvSpPr>
        <p:spPr bwMode="auto">
          <a:xfrm>
            <a:off x="4370832" y="1234440"/>
            <a:ext cx="3429000" cy="315468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898834" name="TextBox 9"/>
          <p:cNvSpPr txBox="1"/>
          <p:nvPr/>
        </p:nvSpPr>
        <p:spPr bwMode="auto">
          <a:xfrm>
            <a:off x="4535424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Runbook</a:t>
            </a:r>
            <a:endParaRPr/>
          </a:p>
        </p:txBody>
      </p:sp>
      <p:sp>
        <p:nvSpPr>
          <p:cNvPr id="1372735361" name="TextBox 10"/>
          <p:cNvSpPr txBox="1"/>
          <p:nvPr/>
        </p:nvSpPr>
        <p:spPr bwMode="auto">
          <a:xfrm>
            <a:off x="4535424" y="1783080"/>
            <a:ext cx="3099816" cy="2487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Что делать, если API отвечает 503?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Пошаговая эксплуатационная процедура</a:t>
            </a:r>
            <a:endParaRPr/>
          </a:p>
        </p:txBody>
      </p:sp>
      <p:sp>
        <p:nvSpPr>
          <p:cNvPr id="1586142023" name="Rounded Rectangle 11"/>
          <p:cNvSpPr/>
          <p:nvPr/>
        </p:nvSpPr>
        <p:spPr bwMode="auto">
          <a:xfrm>
            <a:off x="8092440" y="1234440"/>
            <a:ext cx="3429000" cy="315468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907775" name="TextBox 12"/>
          <p:cNvSpPr txBox="1"/>
          <p:nvPr/>
        </p:nvSpPr>
        <p:spPr bwMode="auto">
          <a:xfrm>
            <a:off x="8257031" y="1389888"/>
            <a:ext cx="309981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Changelog</a:t>
            </a:r>
            <a:endParaRPr/>
          </a:p>
        </p:txBody>
      </p:sp>
      <p:sp>
        <p:nvSpPr>
          <p:cNvPr id="447808611" name="TextBox 13"/>
          <p:cNvSpPr txBox="1"/>
          <p:nvPr/>
        </p:nvSpPr>
        <p:spPr bwMode="auto">
          <a:xfrm>
            <a:off x="8257031" y="1783080"/>
            <a:ext cx="3099816" cy="2487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263241"/>
                </a:solidFill>
                <a:latin typeface="Calibri"/>
              </a:rPr>
              <a:t>Что изменилось в версии 1.4.0?</a:t>
            </a:r>
            <a:br>
              <a:rPr sz="1550" b="0">
                <a:solidFill>
                  <a:srgbClr val="263241"/>
                </a:solidFill>
                <a:latin typeface="Calibri"/>
              </a:rPr>
            </a:br>
            <a:br>
              <a:rPr sz="1550" b="0">
                <a:solidFill>
                  <a:srgbClr val="263241"/>
                </a:solidFill>
                <a:latin typeface="Calibri"/>
              </a:rPr>
            </a:br>
            <a:r>
              <a:rPr sz="1550" b="0">
                <a:solidFill>
                  <a:srgbClr val="263241"/>
                </a:solidFill>
                <a:latin typeface="Calibri"/>
              </a:rPr>
              <a:t>Added • Changed • Fixed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284690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902856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8685385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61519982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Docs-as-code и версии: документация живёт вместе с кодом</a:t>
            </a:r>
            <a:endParaRPr/>
          </a:p>
        </p:txBody>
      </p:sp>
      <p:sp>
        <p:nvSpPr>
          <p:cNvPr id="1418900035" name="Rounded Rectangle 5"/>
          <p:cNvSpPr/>
          <p:nvPr/>
        </p:nvSpPr>
        <p:spPr bwMode="auto">
          <a:xfrm>
            <a:off x="685800" y="1234440"/>
            <a:ext cx="5212080" cy="31546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1448883" name="TextBox 6"/>
          <p:cNvSpPr txBox="1"/>
          <p:nvPr/>
        </p:nvSpPr>
        <p:spPr bwMode="auto">
          <a:xfrm>
            <a:off x="850392" y="1389888"/>
            <a:ext cx="48828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DOCS-AS-CODE</a:t>
            </a:r>
            <a:endParaRPr/>
          </a:p>
        </p:txBody>
      </p:sp>
      <p:sp>
        <p:nvSpPr>
          <p:cNvPr id="925277086" name="TextBox 7"/>
          <p:cNvSpPr txBox="1"/>
          <p:nvPr/>
        </p:nvSpPr>
        <p:spPr bwMode="auto">
          <a:xfrm>
            <a:off x="850392" y="1783080"/>
            <a:ext cx="4886495" cy="13323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700" b="0">
                <a:solidFill>
                  <a:srgbClr val="263241"/>
                </a:solidFill>
                <a:latin typeface="Calibri"/>
              </a:rPr>
              <a:t>Markdown 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Git + pull request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Review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CI-проверки</a:t>
            </a:r>
            <a:br>
              <a:rPr sz="1700" b="0">
                <a:solidFill>
                  <a:srgbClr val="263241"/>
                </a:solidFill>
                <a:latin typeface="Calibri"/>
              </a:rPr>
            </a:br>
            <a:r>
              <a:rPr sz="1700" b="0">
                <a:solidFill>
                  <a:srgbClr val="263241"/>
                </a:solidFill>
                <a:latin typeface="Calibri"/>
              </a:rPr>
              <a:t>Автопубликация</a:t>
            </a:r>
            <a:endParaRPr/>
          </a:p>
        </p:txBody>
      </p:sp>
      <p:sp>
        <p:nvSpPr>
          <p:cNvPr id="161679093" name="Rounded Rectangle 8"/>
          <p:cNvSpPr/>
          <p:nvPr/>
        </p:nvSpPr>
        <p:spPr bwMode="auto">
          <a:xfrm>
            <a:off x="6263640" y="1234440"/>
            <a:ext cx="5212080" cy="315468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761401" name="TextBox 9"/>
          <p:cNvSpPr txBox="1"/>
          <p:nvPr/>
        </p:nvSpPr>
        <p:spPr bwMode="auto">
          <a:xfrm>
            <a:off x="6428231" y="1389888"/>
            <a:ext cx="488289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2203A"/>
                </a:solidFill>
                <a:latin typeface="Calibri"/>
              </a:rPr>
              <a:t>ВЕРСИОНИРОВАНИЕ</a:t>
            </a:r>
            <a:endParaRPr/>
          </a:p>
        </p:txBody>
      </p:sp>
      <p:sp>
        <p:nvSpPr>
          <p:cNvPr id="770876304" name="TextBox 10"/>
          <p:cNvSpPr txBox="1"/>
          <p:nvPr/>
        </p:nvSpPr>
        <p:spPr bwMode="auto">
          <a:xfrm>
            <a:off x="6428231" y="1783080"/>
            <a:ext cx="4882896" cy="2487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650" b="0">
                <a:solidFill>
                  <a:srgbClr val="263241"/>
                </a:solidFill>
                <a:latin typeface="Calibri"/>
              </a:rPr>
              <a:t>Какой версии продукта соответствует?</a:t>
            </a:r>
            <a:br>
              <a:rPr sz="1650" b="0">
                <a:solidFill>
                  <a:srgbClr val="263241"/>
                </a:solidFill>
                <a:latin typeface="Calibri"/>
              </a:rPr>
            </a:br>
            <a:r>
              <a:rPr sz="1650" b="0">
                <a:solidFill>
                  <a:srgbClr val="263241"/>
                </a:solidFill>
                <a:latin typeface="Calibri"/>
              </a:rPr>
              <a:t>Что изменилось?</a:t>
            </a:r>
            <a:br>
              <a:rPr sz="1650" b="0">
                <a:solidFill>
                  <a:srgbClr val="263241"/>
                </a:solidFill>
                <a:latin typeface="Calibri"/>
              </a:rPr>
            </a:br>
            <a:r>
              <a:rPr sz="1650" b="0">
                <a:solidFill>
                  <a:srgbClr val="263241"/>
                </a:solidFill>
                <a:latin typeface="Calibri"/>
              </a:rPr>
              <a:t>Кто согласовал?</a:t>
            </a:r>
            <a:br>
              <a:rPr sz="1650" b="0">
                <a:solidFill>
                  <a:srgbClr val="263241"/>
                </a:solidFill>
                <a:latin typeface="Calibri"/>
              </a:rPr>
            </a:br>
            <a:r>
              <a:rPr sz="1650" b="0">
                <a:solidFill>
                  <a:srgbClr val="263241"/>
                </a:solidFill>
                <a:latin typeface="Calibri"/>
              </a:rPr>
              <a:t>Действует ли документ сейчас?</a:t>
            </a:r>
            <a:endParaRPr/>
          </a:p>
        </p:txBody>
      </p:sp>
      <p:sp>
        <p:nvSpPr>
          <p:cNvPr id="59641939" name="TextBox 11"/>
          <p:cNvSpPr txBox="1"/>
          <p:nvPr/>
        </p:nvSpPr>
        <p:spPr bwMode="auto">
          <a:xfrm>
            <a:off x="1005840" y="4709160"/>
            <a:ext cx="1024128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Устаревшая документация, которой доверяют, часто опаснее отсутствующей.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21617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537261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3410129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880838484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CampusDesk: карта документации</a:t>
            </a:r>
            <a:endParaRPr/>
          </a:p>
        </p:txBody>
      </p:sp>
      <p:sp>
        <p:nvSpPr>
          <p:cNvPr id="164272946" name="Rounded Rectangle 5"/>
          <p:cNvSpPr/>
          <p:nvPr/>
        </p:nvSpPr>
        <p:spPr bwMode="auto">
          <a:xfrm>
            <a:off x="594360" y="114300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502935" name="TextBox 6"/>
          <p:cNvSpPr txBox="1"/>
          <p:nvPr/>
        </p:nvSpPr>
        <p:spPr bwMode="auto">
          <a:xfrm>
            <a:off x="758952" y="129844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Что создать?</a:t>
            </a:r>
            <a:endParaRPr/>
          </a:p>
        </p:txBody>
      </p:sp>
      <p:sp>
        <p:nvSpPr>
          <p:cNvPr id="890668031" name="TextBox 7"/>
          <p:cNvSpPr txBox="1"/>
          <p:nvPr/>
        </p:nvSpPr>
        <p:spPr bwMode="auto">
          <a:xfrm>
            <a:off x="758952" y="169164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ТЗ / requirements</a:t>
            </a:r>
            <a:endParaRPr/>
          </a:p>
        </p:txBody>
      </p:sp>
      <p:sp>
        <p:nvSpPr>
          <p:cNvPr id="1200273687" name="Rounded Rectangle 8"/>
          <p:cNvSpPr/>
          <p:nvPr/>
        </p:nvSpPr>
        <p:spPr bwMode="auto">
          <a:xfrm>
            <a:off x="4389120" y="114300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6541197" name="TextBox 9"/>
          <p:cNvSpPr txBox="1"/>
          <p:nvPr/>
        </p:nvSpPr>
        <p:spPr bwMode="auto">
          <a:xfrm>
            <a:off x="4553712" y="129844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Как API работает?</a:t>
            </a:r>
            <a:endParaRPr/>
          </a:p>
        </p:txBody>
      </p:sp>
      <p:sp>
        <p:nvSpPr>
          <p:cNvPr id="1711414221" name="TextBox 10"/>
          <p:cNvSpPr txBox="1"/>
          <p:nvPr/>
        </p:nvSpPr>
        <p:spPr bwMode="auto">
          <a:xfrm>
            <a:off x="4553712" y="169164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OpenAPI</a:t>
            </a:r>
            <a:endParaRPr/>
          </a:p>
        </p:txBody>
      </p:sp>
      <p:sp>
        <p:nvSpPr>
          <p:cNvPr id="1857005943" name="Rounded Rectangle 11"/>
          <p:cNvSpPr/>
          <p:nvPr/>
        </p:nvSpPr>
        <p:spPr bwMode="auto">
          <a:xfrm>
            <a:off x="8183880" y="114300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1602398" name="TextBox 12"/>
          <p:cNvSpPr txBox="1"/>
          <p:nvPr/>
        </p:nvSpPr>
        <p:spPr bwMode="auto">
          <a:xfrm>
            <a:off x="8348471" y="129844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Почему так спроектировали?</a:t>
            </a:r>
            <a:endParaRPr/>
          </a:p>
        </p:txBody>
      </p:sp>
      <p:sp>
        <p:nvSpPr>
          <p:cNvPr id="304175009" name="TextBox 13"/>
          <p:cNvSpPr txBox="1"/>
          <p:nvPr/>
        </p:nvSpPr>
        <p:spPr bwMode="auto">
          <a:xfrm>
            <a:off x="8348471" y="169164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ADR</a:t>
            </a:r>
            <a:endParaRPr/>
          </a:p>
        </p:txBody>
      </p:sp>
      <p:sp>
        <p:nvSpPr>
          <p:cNvPr id="916557898" name="Rounded Rectangle 14"/>
          <p:cNvSpPr/>
          <p:nvPr/>
        </p:nvSpPr>
        <p:spPr bwMode="auto">
          <a:xfrm>
            <a:off x="594360" y="288036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101570" name="TextBox 15"/>
          <p:cNvSpPr txBox="1"/>
          <p:nvPr/>
        </p:nvSpPr>
        <p:spPr bwMode="auto">
          <a:xfrm>
            <a:off x="758952" y="303580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Как доказать?</a:t>
            </a:r>
            <a:endParaRPr/>
          </a:p>
        </p:txBody>
      </p:sp>
      <p:sp>
        <p:nvSpPr>
          <p:cNvPr id="1816922825" name="TextBox 16"/>
          <p:cNvSpPr txBox="1"/>
          <p:nvPr/>
        </p:nvSpPr>
        <p:spPr bwMode="auto">
          <a:xfrm>
            <a:off x="758952" y="342900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ПМИ / tests</a:t>
            </a:r>
            <a:endParaRPr/>
          </a:p>
        </p:txBody>
      </p:sp>
      <p:sp>
        <p:nvSpPr>
          <p:cNvPr id="2031869934" name="Rounded Rectangle 17"/>
          <p:cNvSpPr/>
          <p:nvPr/>
        </p:nvSpPr>
        <p:spPr bwMode="auto">
          <a:xfrm>
            <a:off x="4389120" y="288036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0963857" name="TextBox 18"/>
          <p:cNvSpPr txBox="1"/>
          <p:nvPr/>
        </p:nvSpPr>
        <p:spPr bwMode="auto">
          <a:xfrm>
            <a:off x="4553712" y="303580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Как работать оператору?</a:t>
            </a:r>
            <a:endParaRPr/>
          </a:p>
        </p:txBody>
      </p:sp>
      <p:sp>
        <p:nvSpPr>
          <p:cNvPr id="1302461041" name="TextBox 19"/>
          <p:cNvSpPr txBox="1"/>
          <p:nvPr/>
        </p:nvSpPr>
        <p:spPr bwMode="auto">
          <a:xfrm>
            <a:off x="4553712" y="342900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Руководство</a:t>
            </a:r>
            <a:endParaRPr/>
          </a:p>
        </p:txBody>
      </p:sp>
      <p:sp>
        <p:nvSpPr>
          <p:cNvPr id="508456321" name="Rounded Rectangle 20"/>
          <p:cNvSpPr/>
          <p:nvPr/>
        </p:nvSpPr>
        <p:spPr bwMode="auto">
          <a:xfrm>
            <a:off x="8183880" y="2880360"/>
            <a:ext cx="3474720" cy="1417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7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789047" name="TextBox 21"/>
          <p:cNvSpPr txBox="1"/>
          <p:nvPr/>
        </p:nvSpPr>
        <p:spPr bwMode="auto">
          <a:xfrm>
            <a:off x="8348471" y="3035808"/>
            <a:ext cx="3145536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12203A"/>
                </a:solidFill>
                <a:latin typeface="Calibri"/>
              </a:rPr>
              <a:t>Что делать при сбое?</a:t>
            </a:r>
            <a:endParaRPr/>
          </a:p>
        </p:txBody>
      </p:sp>
      <p:sp>
        <p:nvSpPr>
          <p:cNvPr id="3656437" name="TextBox 22"/>
          <p:cNvSpPr txBox="1"/>
          <p:nvPr/>
        </p:nvSpPr>
        <p:spPr bwMode="auto">
          <a:xfrm>
            <a:off x="8348471" y="3429000"/>
            <a:ext cx="3145536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263241"/>
                </a:solidFill>
                <a:latin typeface="Calibri"/>
              </a:rPr>
              <a:t>Runbook</a:t>
            </a:r>
            <a:endParaRPr/>
          </a:p>
        </p:txBody>
      </p:sp>
      <p:sp>
        <p:nvSpPr>
          <p:cNvPr id="1734851267" name="Rounded Rectangle 23"/>
          <p:cNvSpPr/>
          <p:nvPr/>
        </p:nvSpPr>
        <p:spPr bwMode="auto">
          <a:xfrm>
            <a:off x="1280160" y="4709160"/>
            <a:ext cx="9509760" cy="6858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402445" name="TextBox 24"/>
          <p:cNvSpPr txBox="1"/>
          <p:nvPr/>
        </p:nvSpPr>
        <p:spPr bwMode="auto">
          <a:xfrm>
            <a:off x="1508759" y="4901184"/>
            <a:ext cx="9052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12203A"/>
                </a:solidFill>
                <a:latin typeface="Calibri"/>
              </a:rPr>
              <a:t>Один продукт → несколько документов → каждый отвечает на свой вопрос.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090649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014678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0921899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374424100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Что должно остаться после модуля</a:t>
            </a:r>
            <a:endParaRPr/>
          </a:p>
        </p:txBody>
      </p:sp>
      <p:sp>
        <p:nvSpPr>
          <p:cNvPr id="645015387" name="Rounded Rectangle 5"/>
          <p:cNvSpPr/>
          <p:nvPr/>
        </p:nvSpPr>
        <p:spPr bwMode="auto">
          <a:xfrm>
            <a:off x="822960" y="960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822295" name="TextBox 6"/>
          <p:cNvSpPr txBox="1"/>
          <p:nvPr/>
        </p:nvSpPr>
        <p:spPr bwMode="auto">
          <a:xfrm>
            <a:off x="914400" y="1056132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1337067968" name="Rounded Rectangle 7"/>
          <p:cNvSpPr/>
          <p:nvPr/>
        </p:nvSpPr>
        <p:spPr bwMode="auto">
          <a:xfrm>
            <a:off x="1417320" y="960120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997962" name="TextBox 8"/>
          <p:cNvSpPr txBox="1"/>
          <p:nvPr/>
        </p:nvSpPr>
        <p:spPr bwMode="auto">
          <a:xfrm>
            <a:off x="1627632" y="1046988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Код не хранит все требования и причины решений.</a:t>
            </a:r>
            <a:endParaRPr/>
          </a:p>
        </p:txBody>
      </p:sp>
      <p:sp>
        <p:nvSpPr>
          <p:cNvPr id="607628233" name="Rounded Rectangle 9"/>
          <p:cNvSpPr/>
          <p:nvPr/>
        </p:nvSpPr>
        <p:spPr bwMode="auto">
          <a:xfrm>
            <a:off x="822960" y="1563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335462" name="TextBox 10"/>
          <p:cNvSpPr txBox="1"/>
          <p:nvPr/>
        </p:nvSpPr>
        <p:spPr bwMode="auto">
          <a:xfrm>
            <a:off x="914400" y="1659636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843577199" name="Rounded Rectangle 11"/>
          <p:cNvSpPr/>
          <p:nvPr/>
        </p:nvSpPr>
        <p:spPr bwMode="auto">
          <a:xfrm>
            <a:off x="1417320" y="1563624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087046" name="TextBox 12"/>
          <p:cNvSpPr txBox="1"/>
          <p:nvPr/>
        </p:nvSpPr>
        <p:spPr bwMode="auto">
          <a:xfrm>
            <a:off x="1627632" y="1650492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ЕСПД описывает программную документацию; АС — более широкий объект.</a:t>
            </a:r>
            <a:endParaRPr/>
          </a:p>
        </p:txBody>
      </p:sp>
      <p:sp>
        <p:nvSpPr>
          <p:cNvPr id="914920616" name="Rounded Rectangle 13"/>
          <p:cNvSpPr/>
          <p:nvPr/>
        </p:nvSpPr>
        <p:spPr bwMode="auto">
          <a:xfrm>
            <a:off x="822960" y="21671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0438154" name="TextBox 14"/>
          <p:cNvSpPr txBox="1"/>
          <p:nvPr/>
        </p:nvSpPr>
        <p:spPr bwMode="auto">
          <a:xfrm>
            <a:off x="914400" y="2263140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606095270" name="Rounded Rectangle 15"/>
          <p:cNvSpPr/>
          <p:nvPr/>
        </p:nvSpPr>
        <p:spPr bwMode="auto">
          <a:xfrm>
            <a:off x="1417320" y="2167128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7766932" name="TextBox 16"/>
          <p:cNvSpPr txBox="1"/>
          <p:nvPr/>
        </p:nvSpPr>
        <p:spPr bwMode="auto">
          <a:xfrm>
            <a:off x="1627632" y="2253996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ТЗ фиксирует согласованный и проверяемый результат.</a:t>
            </a:r>
            <a:endParaRPr/>
          </a:p>
        </p:txBody>
      </p:sp>
      <p:sp>
        <p:nvSpPr>
          <p:cNvPr id="2135299658" name="Rounded Rectangle 17"/>
          <p:cNvSpPr/>
          <p:nvPr/>
        </p:nvSpPr>
        <p:spPr bwMode="auto">
          <a:xfrm>
            <a:off x="822960" y="27706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12685" name="TextBox 18"/>
          <p:cNvSpPr txBox="1"/>
          <p:nvPr/>
        </p:nvSpPr>
        <p:spPr bwMode="auto">
          <a:xfrm>
            <a:off x="914400" y="2866644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903724871" name="Rounded Rectangle 19"/>
          <p:cNvSpPr/>
          <p:nvPr/>
        </p:nvSpPr>
        <p:spPr bwMode="auto">
          <a:xfrm>
            <a:off x="1417320" y="2770632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6846103" name="TextBox 20"/>
          <p:cNvSpPr txBox="1"/>
          <p:nvPr/>
        </p:nvSpPr>
        <p:spPr bwMode="auto">
          <a:xfrm>
            <a:off x="1627632" y="2857500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Хорошее требование можно объективно проверить.</a:t>
            </a:r>
            <a:endParaRPr/>
          </a:p>
        </p:txBody>
      </p:sp>
      <p:sp>
        <p:nvSpPr>
          <p:cNvPr id="266321822" name="Rounded Rectangle 21"/>
          <p:cNvSpPr/>
          <p:nvPr/>
        </p:nvSpPr>
        <p:spPr bwMode="auto">
          <a:xfrm>
            <a:off x="822960" y="33741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933823" name="TextBox 22"/>
          <p:cNvSpPr txBox="1"/>
          <p:nvPr/>
        </p:nvSpPr>
        <p:spPr bwMode="auto">
          <a:xfrm>
            <a:off x="914400" y="3470148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825195717" name="Rounded Rectangle 23"/>
          <p:cNvSpPr/>
          <p:nvPr/>
        </p:nvSpPr>
        <p:spPr bwMode="auto">
          <a:xfrm>
            <a:off x="1417320" y="3374136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8813242" name="TextBox 24"/>
          <p:cNvSpPr txBox="1"/>
          <p:nvPr/>
        </p:nvSpPr>
        <p:spPr bwMode="auto">
          <a:xfrm>
            <a:off x="1627632" y="3461004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ПМИ связывает требование с доказательством.</a:t>
            </a:r>
            <a:endParaRPr/>
          </a:p>
        </p:txBody>
      </p:sp>
      <p:sp>
        <p:nvSpPr>
          <p:cNvPr id="510238900" name="Rounded Rectangle 25"/>
          <p:cNvSpPr/>
          <p:nvPr/>
        </p:nvSpPr>
        <p:spPr bwMode="auto">
          <a:xfrm>
            <a:off x="822960" y="397764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56343" name="TextBox 26"/>
          <p:cNvSpPr txBox="1"/>
          <p:nvPr/>
        </p:nvSpPr>
        <p:spPr bwMode="auto">
          <a:xfrm>
            <a:off x="914400" y="4073652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389351556" name="Rounded Rectangle 27"/>
          <p:cNvSpPr/>
          <p:nvPr/>
        </p:nvSpPr>
        <p:spPr bwMode="auto">
          <a:xfrm>
            <a:off x="1417320" y="3977640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713069" name="TextBox 28"/>
          <p:cNvSpPr txBox="1"/>
          <p:nvPr/>
        </p:nvSpPr>
        <p:spPr bwMode="auto">
          <a:xfrm>
            <a:off x="1627632" y="4064508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Документ всегда имеет конкретную аудиторию.</a:t>
            </a:r>
            <a:endParaRPr/>
          </a:p>
        </p:txBody>
      </p:sp>
      <p:sp>
        <p:nvSpPr>
          <p:cNvPr id="687576533" name="Rounded Rectangle 29"/>
          <p:cNvSpPr/>
          <p:nvPr/>
        </p:nvSpPr>
        <p:spPr bwMode="auto">
          <a:xfrm>
            <a:off x="822960" y="4581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5531998" name="TextBox 30"/>
          <p:cNvSpPr txBox="1"/>
          <p:nvPr/>
        </p:nvSpPr>
        <p:spPr bwMode="auto">
          <a:xfrm>
            <a:off x="914400" y="4677156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  <a:endParaRPr/>
          </a:p>
        </p:txBody>
      </p:sp>
      <p:sp>
        <p:nvSpPr>
          <p:cNvPr id="1649194494" name="Rounded Rectangle 31"/>
          <p:cNvSpPr/>
          <p:nvPr/>
        </p:nvSpPr>
        <p:spPr bwMode="auto">
          <a:xfrm>
            <a:off x="1417320" y="4581144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1012011" name="TextBox 32"/>
          <p:cNvSpPr txBox="1"/>
          <p:nvPr/>
        </p:nvSpPr>
        <p:spPr bwMode="auto">
          <a:xfrm>
            <a:off x="1627632" y="4668012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README, OpenAPI, ADR и runbook решают разные задачи.</a:t>
            </a:r>
            <a:endParaRPr/>
          </a:p>
        </p:txBody>
      </p:sp>
      <p:sp>
        <p:nvSpPr>
          <p:cNvPr id="1524426799" name="Rounded Rectangle 33"/>
          <p:cNvSpPr/>
          <p:nvPr/>
        </p:nvSpPr>
        <p:spPr bwMode="auto">
          <a:xfrm>
            <a:off x="822960" y="5184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2740985" name="TextBox 34"/>
          <p:cNvSpPr txBox="1"/>
          <p:nvPr/>
        </p:nvSpPr>
        <p:spPr bwMode="auto">
          <a:xfrm>
            <a:off x="914400" y="5280660"/>
            <a:ext cx="25603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  <a:endParaRPr/>
          </a:p>
        </p:txBody>
      </p:sp>
      <p:sp>
        <p:nvSpPr>
          <p:cNvPr id="437879545" name="Rounded Rectangle 35"/>
          <p:cNvSpPr/>
          <p:nvPr/>
        </p:nvSpPr>
        <p:spPr bwMode="auto">
          <a:xfrm>
            <a:off x="1417320" y="5184648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6784272" name="TextBox 36"/>
          <p:cNvSpPr txBox="1"/>
          <p:nvPr/>
        </p:nvSpPr>
        <p:spPr bwMode="auto">
          <a:xfrm>
            <a:off x="1627632" y="5271516"/>
            <a:ext cx="93726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12203A"/>
                </a:solidFill>
                <a:latin typeface="Calibri"/>
              </a:rPr>
              <a:t>Статус стандарта и обязательность его применения — разные вопросы.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85209" name="Rectangle 1"/>
          <p:cNvSpPr/>
          <p:nvPr/>
        </p:nvSpPr>
        <p:spPr bwMode="auto">
          <a:xfrm>
            <a:off x="0" y="0"/>
            <a:ext cx="12191999" cy="54864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666664" name="Rounded Rectangle 2"/>
          <p:cNvSpPr/>
          <p:nvPr/>
        </p:nvSpPr>
        <p:spPr bwMode="auto">
          <a:xfrm>
            <a:off x="10287000" y="164592"/>
            <a:ext cx="1417320" cy="365760"/>
          </a:xfrm>
          <a:prstGeom prst="roundRect">
            <a:avLst>
              <a:gd name="adj" fmla="val 16667"/>
            </a:avLst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000840" name="TextBox 3"/>
          <p:cNvSpPr txBox="1"/>
          <p:nvPr/>
        </p:nvSpPr>
        <p:spPr bwMode="auto">
          <a:xfrm>
            <a:off x="10360152" y="251460"/>
            <a:ext cx="1271016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Пары 9-10</a:t>
            </a:r>
            <a:endParaRPr/>
          </a:p>
        </p:txBody>
      </p:sp>
      <p:sp>
        <p:nvSpPr>
          <p:cNvPr id="132006312" name="TextBox 4"/>
          <p:cNvSpPr txBox="1"/>
          <p:nvPr/>
        </p:nvSpPr>
        <p:spPr bwMode="auto">
          <a:xfrm>
            <a:off x="530352" y="393192"/>
            <a:ext cx="9509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2200" b="1">
                <a:solidFill>
                  <a:srgbClr val="12203A"/>
                </a:solidFill>
                <a:latin typeface="Calibri"/>
              </a:rPr>
              <a:t>Основные источники и где проверять актуальность</a:t>
            </a:r>
            <a:endParaRPr/>
          </a:p>
        </p:txBody>
      </p:sp>
      <p:sp>
        <p:nvSpPr>
          <p:cNvPr id="606674562" name="Rounded Rectangle 5"/>
          <p:cNvSpPr/>
          <p:nvPr/>
        </p:nvSpPr>
        <p:spPr bwMode="auto">
          <a:xfrm>
            <a:off x="777240" y="1143000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9181383" name="TextBox 6"/>
          <p:cNvSpPr txBox="1"/>
          <p:nvPr/>
        </p:nvSpPr>
        <p:spPr bwMode="auto">
          <a:xfrm>
            <a:off x="914400" y="1307592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Росстандарт</a:t>
            </a:r>
            <a:endParaRPr/>
          </a:p>
        </p:txBody>
      </p:sp>
      <p:sp>
        <p:nvSpPr>
          <p:cNvPr id="2118904480" name="TextBox 7"/>
          <p:cNvSpPr txBox="1"/>
          <p:nvPr/>
        </p:nvSpPr>
        <p:spPr bwMode="auto">
          <a:xfrm>
            <a:off x="3200400" y="1261872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ГОСТ 19.101-2024 • 19.201-78 • 19.301-79 • 19.505-79</a:t>
            </a:r>
            <a:endParaRPr/>
          </a:p>
        </p:txBody>
      </p:sp>
      <p:sp>
        <p:nvSpPr>
          <p:cNvPr id="547714065" name="Rounded Rectangle 8"/>
          <p:cNvSpPr/>
          <p:nvPr/>
        </p:nvSpPr>
        <p:spPr bwMode="auto">
          <a:xfrm>
            <a:off x="777240" y="1892807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695847" name="TextBox 9"/>
          <p:cNvSpPr txBox="1"/>
          <p:nvPr/>
        </p:nvSpPr>
        <p:spPr bwMode="auto">
          <a:xfrm>
            <a:off x="914400" y="2057400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Росстандарт</a:t>
            </a:r>
            <a:endParaRPr/>
          </a:p>
        </p:txBody>
      </p:sp>
      <p:sp>
        <p:nvSpPr>
          <p:cNvPr id="1105906029" name="TextBox 10"/>
          <p:cNvSpPr txBox="1"/>
          <p:nvPr/>
        </p:nvSpPr>
        <p:spPr bwMode="auto">
          <a:xfrm>
            <a:off x="3200400" y="2011679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ГОСТ 34.201-2020 • 34.602-2020</a:t>
            </a:r>
            <a:endParaRPr/>
          </a:p>
        </p:txBody>
      </p:sp>
      <p:sp>
        <p:nvSpPr>
          <p:cNvPr id="2072075300" name="Rounded Rectangle 11"/>
          <p:cNvSpPr/>
          <p:nvPr/>
        </p:nvSpPr>
        <p:spPr bwMode="auto">
          <a:xfrm>
            <a:off x="777240" y="2642615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415093" name="TextBox 12"/>
          <p:cNvSpPr txBox="1"/>
          <p:nvPr/>
        </p:nvSpPr>
        <p:spPr bwMode="auto">
          <a:xfrm>
            <a:off x="914400" y="2807208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Росстандарт</a:t>
            </a:r>
            <a:endParaRPr/>
          </a:p>
        </p:txBody>
      </p:sp>
      <p:sp>
        <p:nvSpPr>
          <p:cNvPr id="195144305" name="TextBox 13"/>
          <p:cNvSpPr txBox="1"/>
          <p:nvPr/>
        </p:nvSpPr>
        <p:spPr bwMode="auto">
          <a:xfrm>
            <a:off x="3200400" y="2761487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ГОСТ Р 59792 / 59793 / 59795 / 59853-2021</a:t>
            </a:r>
            <a:endParaRPr/>
          </a:p>
        </p:txBody>
      </p:sp>
      <p:sp>
        <p:nvSpPr>
          <p:cNvPr id="1205980195" name="Rounded Rectangle 14"/>
          <p:cNvSpPr/>
          <p:nvPr/>
        </p:nvSpPr>
        <p:spPr bwMode="auto">
          <a:xfrm>
            <a:off x="777240" y="3392423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5336776" name="TextBox 15"/>
          <p:cNvSpPr txBox="1"/>
          <p:nvPr/>
        </p:nvSpPr>
        <p:spPr bwMode="auto">
          <a:xfrm>
            <a:off x="914400" y="3557015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Росстандарт</a:t>
            </a:r>
            <a:endParaRPr/>
          </a:p>
        </p:txBody>
      </p:sp>
      <p:sp>
        <p:nvSpPr>
          <p:cNvPr id="382009616" name="TextBox 16"/>
          <p:cNvSpPr txBox="1"/>
          <p:nvPr/>
        </p:nvSpPr>
        <p:spPr bwMode="auto">
          <a:xfrm>
            <a:off x="3200400" y="3511295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ГОСТ Р 58609-2019 / ISO/IEC/IEEE 15289:2017</a:t>
            </a:r>
            <a:endParaRPr/>
          </a:p>
        </p:txBody>
      </p:sp>
      <p:sp>
        <p:nvSpPr>
          <p:cNvPr id="1610450226" name="Rounded Rectangle 17"/>
          <p:cNvSpPr/>
          <p:nvPr/>
        </p:nvSpPr>
        <p:spPr bwMode="auto">
          <a:xfrm>
            <a:off x="777240" y="4142231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 w="12700">
            <a:solidFill>
              <a:srgbClr val="4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8159294" name="TextBox 18"/>
          <p:cNvSpPr txBox="1"/>
          <p:nvPr/>
        </p:nvSpPr>
        <p:spPr bwMode="auto">
          <a:xfrm>
            <a:off x="914400" y="4306823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ISO</a:t>
            </a:r>
            <a:endParaRPr/>
          </a:p>
        </p:txBody>
      </p:sp>
      <p:sp>
        <p:nvSpPr>
          <p:cNvPr id="22935629" name="TextBox 19"/>
          <p:cNvSpPr txBox="1"/>
          <p:nvPr/>
        </p:nvSpPr>
        <p:spPr bwMode="auto">
          <a:xfrm>
            <a:off x="3200400" y="4261103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ISO/IEC/IEEE 12207:2026 • 29148:2018</a:t>
            </a:r>
            <a:endParaRPr/>
          </a:p>
        </p:txBody>
      </p:sp>
      <p:sp>
        <p:nvSpPr>
          <p:cNvPr id="522312588" name="Rounded Rectangle 20"/>
          <p:cNvSpPr/>
          <p:nvPr/>
        </p:nvSpPr>
        <p:spPr bwMode="auto">
          <a:xfrm>
            <a:off x="777240" y="4892039"/>
            <a:ext cx="2148840" cy="566928"/>
          </a:xfrm>
          <a:prstGeom prst="roundRect">
            <a:avLst>
              <a:gd name="adj" fmla="val 16667"/>
            </a:avLst>
          </a:prstGeom>
          <a:solidFill>
            <a:srgbClr val="E9F8F4"/>
          </a:solidFill>
          <a:ln w="1270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188307" name="TextBox 21"/>
          <p:cNvSpPr txBox="1"/>
          <p:nvPr/>
        </p:nvSpPr>
        <p:spPr bwMode="auto">
          <a:xfrm>
            <a:off x="914400" y="5056631"/>
            <a:ext cx="187451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12203A"/>
                </a:solidFill>
                <a:latin typeface="Calibri"/>
              </a:rPr>
              <a:t>OpenAPI Initiative</a:t>
            </a:r>
            <a:endParaRPr/>
          </a:p>
        </p:txBody>
      </p:sp>
      <p:sp>
        <p:nvSpPr>
          <p:cNvPr id="1791995844" name="TextBox 22"/>
          <p:cNvSpPr txBox="1"/>
          <p:nvPr/>
        </p:nvSpPr>
        <p:spPr bwMode="auto">
          <a:xfrm>
            <a:off x="3200400" y="5010912"/>
            <a:ext cx="795527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263241"/>
                </a:solidFill>
                <a:latin typeface="Calibri"/>
              </a:rPr>
              <a:t>OpenAPI Specification — spec.openapis.org</a:t>
            </a:r>
            <a:endParaRPr/>
          </a:p>
        </p:txBody>
      </p:sp>
      <p:sp>
        <p:nvSpPr>
          <p:cNvPr id="2008310548" name="Rounded Rectangle 23"/>
          <p:cNvSpPr/>
          <p:nvPr/>
        </p:nvSpPr>
        <p:spPr bwMode="auto">
          <a:xfrm>
            <a:off x="822960" y="5596128"/>
            <a:ext cx="10424160" cy="548640"/>
          </a:xfrm>
          <a:prstGeom prst="roundRect">
            <a:avLst>
              <a:gd name="adj" fmla="val 16667"/>
            </a:avLst>
          </a:prstGeom>
          <a:solidFill>
            <a:srgbClr val="FFF6D8"/>
          </a:solidFill>
          <a:ln w="12700">
            <a:solidFill>
              <a:srgbClr val="F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1823531" name="TextBox 24"/>
          <p:cNvSpPr txBox="1"/>
          <p:nvPr/>
        </p:nvSpPr>
        <p:spPr bwMode="auto">
          <a:xfrm>
            <a:off x="1051560" y="5751576"/>
            <a:ext cx="99669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12203A"/>
                </a:solidFill>
                <a:latin typeface="Calibri"/>
              </a:rPr>
              <a:t>Правило: нашли номер ГОСТ в статье → открыли официальную карточку → проверили статус и замену.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2026-09-30T18:08:44Z</dcterms:modified>
  <cp:category/>
</cp:coreProperties>
</file>